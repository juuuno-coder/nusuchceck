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oval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114800"/>
            <a:ext cx="4572000" cy="4572000"/>
          </a:xfrm>
          <a:prstGeom prst="oval">
            <a:avLst/>
          </a:prstGeom>
          <a:solidFill>
            <a:srgbClr val="115E59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누수체크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디자인 시스템 v2.0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0" y="3840480"/>
            <a:ext cx="1828800" cy="27432"/>
          </a:xfrm>
          <a:prstGeom prst="rect">
            <a:avLst/>
          </a:prstGeom>
          <a:solidFill>
            <a:srgbClr val="CCFBF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FBF1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당근마켓 · 토스 · 미소 레퍼런스 기반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2026.03.09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원칙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앱의 좋은 점을 누수체크에 적용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011680"/>
          </a:xfrm>
          <a:prstGeom prst="roundedRectangle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097280" cy="292608"/>
          </a:xfrm>
          <a:prstGeom prst="roundedRectangle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당근마켓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UI, 리스트, 하단 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따뜻하고 친근한 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560320" cy="2011680"/>
          </a:xfrm>
          <a:prstGeom prst="roundedRectangle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828800"/>
            <a:ext cx="1097280" cy="292608"/>
          </a:xfrm>
          <a:prstGeom prst="roundedRectangle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위자드 플로우, 큰 텍스트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깔끔한 정보 구조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560320" cy="2011680"/>
          </a:xfrm>
          <a:prstGeom prst="roundedRectangle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828800"/>
            <a:ext cx="1097280" cy="292608"/>
          </a:xfrm>
          <a:prstGeom prst="roundedRectangle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예약, 리뷰 강조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신뢰 표시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퍼스트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169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375px 기준 설계 → 데스크톱 확장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기반 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809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정보 블록은 rounded-2xl 카드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1화면 1목적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5449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화면은 하나의 주요 액션에 집중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852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5852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친근한 톤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6089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"신고" 대신 "체크", 이모지 활용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 시스템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(Teal)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960120" cy="822960"/>
          </a:xfrm>
          <a:prstGeom prst="roundedRectangle">
            <a:avLst>
              <a:gd name="adj" fmla="val 8889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#F0FDFA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0" y="1508760"/>
            <a:ext cx="960120" cy="822960"/>
          </a:xfrm>
          <a:prstGeom prst="roundedRectangle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572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#CCFBF1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1508760"/>
            <a:ext cx="960120" cy="822960"/>
          </a:xfrm>
          <a:prstGeom prst="roundedRectangle">
            <a:avLst>
              <a:gd name="adj" fmla="val 8889"/>
            </a:avLst>
          </a:prstGeom>
          <a:solidFill>
            <a:srgbClr val="99F6E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572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#99F6E4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1508760"/>
            <a:ext cx="960120" cy="822960"/>
          </a:xfrm>
          <a:prstGeom prst="roundedRectangle">
            <a:avLst>
              <a:gd name="adj" fmla="val 8889"/>
            </a:avLst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572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#14B8A6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0" y="1508760"/>
            <a:ext cx="960120" cy="822960"/>
          </a:xfrm>
          <a:prstGeom prst="roundedRectangle">
            <a:avLst>
              <a:gd name="adj" fmla="val 8889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572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#0D9488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1508760"/>
            <a:ext cx="960120" cy="822960"/>
          </a:xfrm>
          <a:prstGeom prst="roundedRectangle">
            <a:avLst>
              <a:gd name="adj" fmla="val 8889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572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#0F766E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32320" y="1508760"/>
            <a:ext cx="960120" cy="822960"/>
          </a:xfrm>
          <a:prstGeom prst="roundedRectangle">
            <a:avLst>
              <a:gd name="adj" fmla="val 8889"/>
            </a:avLst>
          </a:prstGeom>
          <a:solidFill>
            <a:srgbClr val="115E59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727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#115E59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Secondary (Purple)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2971800"/>
            <a:ext cx="960120" cy="685800"/>
          </a:xfrm>
          <a:prstGeom prst="roundedRectangle">
            <a:avLst>
              <a:gd name="adj" fmla="val 10667"/>
            </a:avLst>
          </a:prstGeom>
          <a:solidFill>
            <a:srgbClr val="FAF5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175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#FAF5FF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45920" y="2971800"/>
            <a:ext cx="960120" cy="685800"/>
          </a:xfrm>
          <a:prstGeom prst="roundedRectangle">
            <a:avLst>
              <a:gd name="adj" fmla="val 10667"/>
            </a:avLst>
          </a:prstGeom>
          <a:solidFill>
            <a:srgbClr val="F3E8FF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0" y="30175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#F3E8FF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2971800"/>
            <a:ext cx="960120" cy="685800"/>
          </a:xfrm>
          <a:prstGeom prst="roundedRectangle">
            <a:avLst>
              <a:gd name="adj" fmla="val 10667"/>
            </a:avLst>
          </a:prstGeom>
          <a:solidFill>
            <a:srgbClr val="9333EA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30175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#9333EA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Accent (Orange)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06240" y="2971800"/>
            <a:ext cx="960120" cy="685800"/>
          </a:xfrm>
          <a:prstGeom prst="roundedRectangle">
            <a:avLst>
              <a:gd name="adj" fmla="val 10667"/>
            </a:avLst>
          </a:prstGeom>
          <a:solidFill>
            <a:srgbClr val="FFEDD5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30175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#FFEDD5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03520" y="2971800"/>
            <a:ext cx="960120" cy="685800"/>
          </a:xfrm>
          <a:prstGeom prst="roundedRectangle">
            <a:avLst>
              <a:gd name="adj" fmla="val 10667"/>
            </a:avLst>
          </a:prstGeom>
          <a:solidFill>
            <a:srgbClr val="FB923C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0175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#FB923C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0" y="2971800"/>
            <a:ext cx="960120" cy="685800"/>
          </a:xfrm>
          <a:prstGeom prst="roundedRectangle">
            <a:avLst>
              <a:gd name="adj" fmla="val 10667"/>
            </a:avLst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0175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#F97316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색상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343400"/>
            <a:ext cx="1188720" cy="365760"/>
          </a:xfrm>
          <a:prstGeom prst="roundedRectangle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접수/기본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20240" y="4343400"/>
            <a:ext cx="1188720" cy="365760"/>
          </a:xfrm>
          <a:prstGeom prst="roundedRectangle">
            <a:avLst>
              <a:gd name="adj" fmla="val 50000"/>
            </a:avLst>
          </a:prstGeom>
          <a:solidFill>
            <a:srgbClr val="FEF9C3"/>
          </a:solidFill>
          <a:ln/>
        </p:spPr>
      </p:sp>
      <p:sp>
        <p:nvSpPr>
          <p:cNvPr id="43" name="Text 41"/>
          <p:cNvSpPr/>
          <p:nvPr/>
        </p:nvSpPr>
        <p:spPr>
          <a:xfrm>
            <a:off x="192024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대기/진행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4343400"/>
            <a:ext cx="1188720" cy="365760"/>
          </a:xfrm>
          <a:prstGeom prst="roundedRectangle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5" name="Text 43"/>
          <p:cNvSpPr/>
          <p:nvPr/>
        </p:nvSpPr>
        <p:spPr>
          <a:xfrm>
            <a:off x="329184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배정/처리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4343400"/>
            <a:ext cx="1188720" cy="365760"/>
          </a:xfrm>
          <a:prstGeom prst="roundedRectangle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분석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4343400"/>
            <a:ext cx="1188720" cy="365760"/>
          </a:xfrm>
          <a:prstGeom prst="roundedRectangle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49" name="Text 47"/>
          <p:cNvSpPr/>
          <p:nvPr/>
        </p:nvSpPr>
        <p:spPr>
          <a:xfrm>
            <a:off x="603504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승인/완료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06640" y="4343400"/>
            <a:ext cx="1188720" cy="365760"/>
          </a:xfrm>
          <a:prstGeom prst="roundedRectangle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51" name="Text 49"/>
          <p:cNvSpPr/>
          <p:nvPr/>
        </p:nvSpPr>
        <p:spPr>
          <a:xfrm>
            <a:off x="740664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거절/오류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그라디언트 (히어로/CTA 전용)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5440680"/>
            <a:ext cx="3474720" cy="502920"/>
          </a:xfrm>
          <a:prstGeom prst="roundedRectangle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5440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primary-600 → primary-700 (기본 CTA)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89120" y="5440680"/>
            <a:ext cx="3474720" cy="502920"/>
          </a:xfrm>
          <a:prstGeom prst="roundedRectangle">
            <a:avLst>
              <a:gd name="adj" fmla="val 18182"/>
            </a:avLst>
          </a:prstGeom>
          <a:solidFill>
            <a:srgbClr val="9333EA"/>
          </a:solidFill>
          <a:ln/>
        </p:spPr>
      </p:sp>
      <p:sp>
        <p:nvSpPr>
          <p:cNvPr id="56" name="Text 54"/>
          <p:cNvSpPr/>
          <p:nvPr/>
        </p:nvSpPr>
        <p:spPr>
          <a:xfrm>
            <a:off x="4389120" y="5440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primary-600 → purple-600 (AI/프리미엄)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타이포그래피 &amp; 간격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914400"/>
          </a:xfrm>
          <a:prstGeom prst="roundedRectangle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Pretendard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가변 폰트 · 한글 최적화 · CDN 로드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840480" cy="3200400"/>
          </a:xfrm>
          <a:prstGeom prst="roundedRectangle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 스케일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히어로 제목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text-[26px]~5xl / extrabold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0" y="2221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450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text-lg~xl / bold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2752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제목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9809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text-base / bold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37760" y="3282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텍스트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511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text-sm (14px) / medium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정보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40416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text-xs (12px) / medium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간격 체계 (8px 그리드)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1280160" cy="640080"/>
          </a:xfrm>
          <a:prstGeom prst="roundedRectangle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gap-2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8px · 아이콘-텍스트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65960" y="2834640"/>
            <a:ext cx="1280160" cy="640080"/>
          </a:xfrm>
          <a:prstGeom prst="roundedRectangle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gap-3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12px · 카드 간 간격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0" y="2834640"/>
            <a:ext cx="1280160" cy="640080"/>
          </a:xfrm>
          <a:prstGeom prst="roundedRectangle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8803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p-4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16px · 카드 내부 패딩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1280160" cy="640080"/>
          </a:xfrm>
          <a:prstGeom prst="roundedRectangle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p-5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20px · 기본 카드 패딩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65960" y="3611880"/>
            <a:ext cx="1280160" cy="640080"/>
          </a:xfrm>
          <a:prstGeom prst="roundedRectangle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mb-6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5740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24px · 섹션 간 간격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383280" y="3611880"/>
            <a:ext cx="1280160" cy="640080"/>
          </a:xfrm>
          <a:prstGeom prst="roundedRectangle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px-4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16px · 페이지 좌우 패딩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컨테이너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074920"/>
            <a:ext cx="8046720" cy="685800"/>
          </a:xfrm>
          <a:prstGeom prst="roundedRectangle">
            <a:avLst>
              <a:gd name="adj" fmla="val 10667"/>
            </a:avLst>
          </a:prstGeom>
          <a:solidFill>
            <a:srgbClr val="111827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120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min-h-screen bg-gray-50 pb-20  &gt;  max-w-4xl mx-auto px-4 py-6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440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pb-20 = 하단 네비 공간 확보 (모바일)  /  max-w-4xl = 896px 최대 너비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라이브러리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· 뱃지 · 입력 필드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502920"/>
          </a:xfrm>
          <a:prstGeom prst="roundedRectangle">
            <a:avLst>
              <a:gd name="adj" fmla="val 27273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체크 접수하기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(w-full rounded-2xl)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474720" cy="502920"/>
          </a:xfrm>
          <a:prstGeom prst="roundedRectangle">
            <a:avLst>
              <a:gd name="adj" fmla="val 27273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이전으로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Secondary (border-2)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보기 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Ghost (텍스트형)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뱃지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97280" cy="320040"/>
          </a:xfrm>
          <a:prstGeom prst="roundedRectangle">
            <a:avLst>
              <a:gd name="adj" fmla="val 48571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4251960"/>
            <a:ext cx="1097280" cy="320040"/>
          </a:xfrm>
          <a:prstGeom prst="roundedRectangle">
            <a:avLst>
              <a:gd name="adj" fmla="val 48571"/>
            </a:avLst>
          </a:prstGeom>
          <a:solidFill>
            <a:srgbClr val="FEF9C3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대기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4251960"/>
            <a:ext cx="1097280" cy="320040"/>
          </a:xfrm>
          <a:prstGeom prst="roundedRectangle">
            <a:avLst>
              <a:gd name="adj" fmla="val 48571"/>
            </a:avLst>
          </a:prstGeom>
          <a:solidFill>
            <a:srgbClr val="CCFBF1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4251960"/>
            <a:ext cx="1097280" cy="320040"/>
          </a:xfrm>
          <a:prstGeom prst="roundedRectangle">
            <a:avLst>
              <a:gd name="adj" fmla="val 48571"/>
            </a:avLst>
          </a:prstGeom>
          <a:solidFill>
            <a:srgbClr val="F3E8FF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분석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4251960"/>
            <a:ext cx="1097280" cy="320040"/>
          </a:xfrm>
          <a:prstGeom prst="roundedRectangle">
            <a:avLst>
              <a:gd name="adj" fmla="val 48571"/>
            </a:avLst>
          </a:prstGeom>
          <a:solidFill>
            <a:srgbClr val="DCFCE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4251960"/>
            <a:ext cx="1097280" cy="320040"/>
          </a:xfrm>
          <a:prstGeom prst="roundedRectangle">
            <a:avLst>
              <a:gd name="adj" fmla="val 48571"/>
            </a:avLst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필드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3474720" cy="457200"/>
          </a:xfrm>
          <a:prstGeom prst="roundedRectangle">
            <a:avLst>
              <a:gd name="adj" fmla="val 30000"/>
            </a:avLst>
          </a:prstGeom>
          <a:solidFill>
            <a:srgbClr val="F9FAFB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주소를 입력해주세요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설명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5486400"/>
            <a:ext cx="3474720" cy="457200"/>
          </a:xfrm>
          <a:prstGeom prst="roundedRectangle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상황을 자세히 설명해주세요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035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상태 (bg-gray-50, border-gray-200)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4880" y="6035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포커스 상태 (bg-white, border-primary-500)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컴포넌트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카드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1371600"/>
          </a:xfrm>
          <a:prstGeom prst="roundedRectangle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제목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bg-white rounded-2xl p-5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border-2 border-gray-100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shadow 없음 (호버 시에만)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 카드 (인사/프로모션)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1371600"/>
          </a:xfrm>
          <a:prstGeom prst="roundedRectangle">
            <a:avLst>
              <a:gd name="adj" fmla="val 13333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안녕하세요, 김고객님!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bg-gradient-to-r from-primary-600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to-primary-700 rounded-3xl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text-white shadow-lg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리스트 아이템 (당근마켓 스타일)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0" cy="2103120"/>
          </a:xfrm>
          <a:prstGeom prst="roundedRectangle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703320"/>
            <a:ext cx="822960" cy="256032"/>
          </a:xfrm>
          <a:prstGeom prst="roundedRectangle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2시간 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배관 누수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164592" cy="1645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1560" y="4416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강남구 역삼동 123-45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22960" y="4754880"/>
            <a:ext cx="3291840" cy="594360"/>
          </a:xfrm>
          <a:prstGeom prst="roundedRectangle">
            <a:avLst>
              <a:gd name="adj" fmla="val 15385"/>
            </a:avLst>
          </a:prstGeom>
          <a:solidFill>
            <a:srgbClr val="F9FAFB"/>
          </a:solidFill>
          <a:ln/>
        </p:spPr>
      </p:sp>
      <p:sp>
        <p:nvSpPr>
          <p:cNvPr id="20" name="Shape 17"/>
          <p:cNvSpPr/>
          <p:nvPr/>
        </p:nvSpPr>
        <p:spPr>
          <a:xfrm>
            <a:off x="1005840" y="4864608"/>
            <a:ext cx="365760" cy="365760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491032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50876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전문가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508760" y="5001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김전문가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5488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안내/가이드 카드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754880" y="3520440"/>
            <a:ext cx="3840480" cy="914400"/>
          </a:xfrm>
          <a:prstGeom prst="roundedRectangle">
            <a:avLst>
              <a:gd name="adj" fmla="val 15000"/>
            </a:avLst>
          </a:prstGeom>
          <a:solidFill>
            <a:srgbClr val="F0FDFA"/>
          </a:solidFill>
          <a:ln w="19050">
            <a:solidFill>
              <a:srgbClr val="CCFBF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이용 가이드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02920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체크를 접수하면 전문가가 배정됩니다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상태 (Empty State)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54880" y="5029200"/>
            <a:ext cx="3840480" cy="1188720"/>
          </a:xfrm>
          <a:prstGeom prst="roundedRectangle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30" name="Shape 26"/>
          <p:cNvSpPr/>
          <p:nvPr/>
        </p:nvSpPr>
        <p:spPr>
          <a:xfrm>
            <a:off x="6263640" y="5166360"/>
            <a:ext cx="457200" cy="457200"/>
          </a:xfrm>
          <a:prstGeom prst="oval">
            <a:avLst/>
          </a:prstGeom>
          <a:solidFill>
            <a:srgbClr val="F3F4F6"/>
          </a:solidFill>
          <a:ln/>
        </p:spPr>
      </p:sp>
      <p:sp>
        <p:nvSpPr>
          <p:cNvPr id="31" name="Text 27"/>
          <p:cNvSpPr/>
          <p:nvPr/>
        </p:nvSpPr>
        <p:spPr>
          <a:xfrm>
            <a:off x="4937760" y="5669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접수한 체크가 없어요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760720" y="5943600"/>
            <a:ext cx="1463040" cy="256032"/>
          </a:xfrm>
          <a:prstGeom prst="roundedRectangle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3" name="Text 29"/>
          <p:cNvSpPr/>
          <p:nvPr/>
        </p:nvSpPr>
        <p:spPr>
          <a:xfrm>
            <a:off x="5760720" y="5943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접수하기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랜딩 페이지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pages/landing · 토스 스타일 히어로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377440" cy="4754880"/>
          </a:xfrm>
          <a:prstGeom prst="roundedRectangle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2286000" cy="18288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435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280160" y="5806440"/>
            <a:ext cx="548640" cy="36576"/>
          </a:xfrm>
          <a:prstGeom prst="roundedRectangle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1444752"/>
            <a:ext cx="2231136" cy="43159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627632"/>
            <a:ext cx="2048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 새는 고민,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쉽게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해결하세요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" y="281635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누수를 진단하고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전문가가 해결합니다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3547872"/>
            <a:ext cx="2048256" cy="365760"/>
          </a:xfrm>
          <a:prstGeom prst="roundedRectangle">
            <a:avLst>
              <a:gd name="adj" fmla="val 30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354787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누수 체크 시작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4050792"/>
            <a:ext cx="2048256" cy="365760"/>
          </a:xfrm>
          <a:prstGeom prst="roundedRectangle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4050792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알아보기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46451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100+ 전문가  ✓ 보험 자동화  ✓ 에스크로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108960" y="1188720"/>
            <a:ext cx="2377440" cy="4754880"/>
          </a:xfrm>
          <a:prstGeom prst="roundedRectangle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234440"/>
            <a:ext cx="22860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2435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023360" y="5806440"/>
            <a:ext cx="548640" cy="36576"/>
          </a:xfrm>
          <a:prstGeom prst="roundedRectangle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2112" y="1444752"/>
            <a:ext cx="2231136" cy="43159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73552" y="1536192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방법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73552" y="1993392"/>
            <a:ext cx="2048256" cy="1005840"/>
          </a:xfrm>
          <a:prstGeom prst="roundedRectangle">
            <a:avLst>
              <a:gd name="adj" fmla="val 9091"/>
            </a:avLst>
          </a:pr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3364992" y="2130552"/>
            <a:ext cx="320040" cy="32004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364992" y="2130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76472" y="213055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체크 접수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76472" y="240487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사진/영상 첨부로 간편 접수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73552" y="3182112"/>
            <a:ext cx="2048256" cy="1005840"/>
          </a:xfrm>
          <a:prstGeom prst="roundedRectangle">
            <a:avLst>
              <a:gd name="adj" fmla="val 9091"/>
            </a:avLst>
          </a:pr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3319272"/>
            <a:ext cx="320040" cy="320040"/>
          </a:xfrm>
          <a:prstGeom prst="oval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76472" y="331927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분석 &amp; 전문가 매칭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359359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상황 분석 후 전문가 배정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73552" y="4370832"/>
            <a:ext cx="2048256" cy="1005840"/>
          </a:xfrm>
          <a:prstGeom prst="roundedRectangle">
            <a:avLst>
              <a:gd name="adj" fmla="val 9091"/>
            </a:avLst>
          </a:prstGeom>
          <a:solidFill>
            <a:srgbClr val="F9FAFB"/>
          </a:solidFill>
          <a:ln/>
        </p:spPr>
      </p:sp>
      <p:sp>
        <p:nvSpPr>
          <p:cNvPr id="33" name="Shape 31"/>
          <p:cNvSpPr/>
          <p:nvPr/>
        </p:nvSpPr>
        <p:spPr>
          <a:xfrm>
            <a:off x="3364992" y="4507992"/>
            <a:ext cx="320040" cy="320040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3364992" y="4507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76472" y="450799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&amp; 시공 완료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76472" y="4782312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투명한 견적, 안전한 결제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그라디언트 배경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from-primary-50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via-white to-purple-50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텍스트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text-5xl font-extrabold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그라디언트 텍스트 강조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CTA 버튼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+ Secondary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w-full rounded-2xl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754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프로세스 카드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색상별 구분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아이콘 + 설명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대시보드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dashboard/index · 당근마켓 스타일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377440" cy="4754880"/>
          </a:xfrm>
          <a:prstGeom prst="roundedRectangle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2286000" cy="1828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435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280160" y="5806440"/>
            <a:ext cx="548640" cy="36576"/>
          </a:xfrm>
          <a:prstGeom prst="roundedRectangle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1444752"/>
            <a:ext cx="2231136" cy="43159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" y="1490472"/>
            <a:ext cx="2139696" cy="685800"/>
          </a:xfrm>
          <a:prstGeom prst="roundedRectangle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5361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안녕하세요, 김고객님!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1810512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오늘도 편안한 하루 되세요 🏠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4632" y="2359152"/>
            <a:ext cx="682752" cy="640080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560" y="2432304"/>
            <a:ext cx="310896" cy="310896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68" y="2487168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84632" y="2779776"/>
            <a:ext cx="682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체크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213104" y="2359152"/>
            <a:ext cx="682752" cy="640080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399032" y="2432304"/>
            <a:ext cx="310896" cy="310896"/>
          </a:xfrm>
          <a:prstGeom prst="oval">
            <a:avLst/>
          </a:prstGeom>
          <a:solidFill>
            <a:srgbClr val="CCFBF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487168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13104" y="2779776"/>
            <a:ext cx="682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요청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1941576" y="2359152"/>
            <a:ext cx="682752" cy="640080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27504" y="2432304"/>
            <a:ext cx="310896" cy="310896"/>
          </a:xfrm>
          <a:prstGeom prst="oval">
            <a:avLst/>
          </a:prstGeom>
          <a:solidFill>
            <a:srgbClr val="F3E8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512" y="2487168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41576" y="2779776"/>
            <a:ext cx="682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84632" y="3182112"/>
            <a:ext cx="682752" cy="502920"/>
          </a:xfrm>
          <a:prstGeom prst="roundedRectangle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" y="3200400"/>
            <a:ext cx="68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84632" y="3474720"/>
            <a:ext cx="68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1213104" y="3182112"/>
            <a:ext cx="682752" cy="502920"/>
          </a:xfrm>
          <a:prstGeom prst="roundedRectangle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213104" y="3200400"/>
            <a:ext cx="68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8A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213104" y="3474720"/>
            <a:ext cx="68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대기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1941576" y="3182112"/>
            <a:ext cx="682752" cy="502920"/>
          </a:xfrm>
          <a:prstGeom prst="roundedRectangle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941576" y="3200400"/>
            <a:ext cx="68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1941576" y="3474720"/>
            <a:ext cx="682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530352" y="382219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중인 체크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84632" y="4142232"/>
            <a:ext cx="2139696" cy="822960"/>
          </a:xfrm>
          <a:prstGeom prst="roundedRectangle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76072" y="4215384"/>
            <a:ext cx="548640" cy="182880"/>
          </a:xfrm>
          <a:prstGeom prst="roundedRectangle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6" name="Text 31"/>
          <p:cNvSpPr/>
          <p:nvPr/>
        </p:nvSpPr>
        <p:spPr>
          <a:xfrm>
            <a:off x="576072" y="42153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576072" y="444398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배관 누수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576072" y="464515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· 2시간 전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411480" y="5440680"/>
            <a:ext cx="2286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5"/>
          <p:cNvSpPr/>
          <p:nvPr/>
        </p:nvSpPr>
        <p:spPr>
          <a:xfrm>
            <a:off x="457200" y="54681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</a:t>
            </a:r>
            <a:endParaRPr lang="en-US" sz="650" dirty="0"/>
          </a:p>
        </p:txBody>
      </p:sp>
      <p:sp>
        <p:nvSpPr>
          <p:cNvPr id="41" name="Text 36"/>
          <p:cNvSpPr/>
          <p:nvPr/>
        </p:nvSpPr>
        <p:spPr>
          <a:xfrm>
            <a:off x="896112" y="54681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요청</a:t>
            </a:r>
            <a:endParaRPr lang="en-US" sz="650" dirty="0"/>
          </a:p>
        </p:txBody>
      </p:sp>
      <p:sp>
        <p:nvSpPr>
          <p:cNvPr id="42" name="Text 37"/>
          <p:cNvSpPr/>
          <p:nvPr/>
        </p:nvSpPr>
        <p:spPr>
          <a:xfrm>
            <a:off x="1335024" y="54681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1773936" y="54681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</a:t>
            </a:r>
            <a:endParaRPr lang="en-US" sz="650" dirty="0"/>
          </a:p>
        </p:txBody>
      </p:sp>
      <p:sp>
        <p:nvSpPr>
          <p:cNvPr id="44" name="Text 39"/>
          <p:cNvSpPr/>
          <p:nvPr/>
        </p:nvSpPr>
        <p:spPr>
          <a:xfrm>
            <a:off x="2212848" y="54681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</a:t>
            </a:r>
            <a:endParaRPr lang="en-US" sz="650" dirty="0"/>
          </a:p>
        </p:txBody>
      </p:sp>
      <p:sp>
        <p:nvSpPr>
          <p:cNvPr id="45" name="Shape 40"/>
          <p:cNvSpPr/>
          <p:nvPr/>
        </p:nvSpPr>
        <p:spPr>
          <a:xfrm>
            <a:off x="3108960" y="1188720"/>
            <a:ext cx="2377440" cy="4754880"/>
          </a:xfrm>
          <a:prstGeom prst="roundedRectangle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3154680" y="1234440"/>
            <a:ext cx="228600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2"/>
          <p:cNvSpPr/>
          <p:nvPr/>
        </p:nvSpPr>
        <p:spPr>
          <a:xfrm>
            <a:off x="3246120" y="124358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600" dirty="0"/>
          </a:p>
        </p:txBody>
      </p:sp>
      <p:sp>
        <p:nvSpPr>
          <p:cNvPr id="48" name="Shape 43"/>
          <p:cNvSpPr/>
          <p:nvPr/>
        </p:nvSpPr>
        <p:spPr>
          <a:xfrm>
            <a:off x="4023360" y="5806440"/>
            <a:ext cx="548640" cy="36576"/>
          </a:xfrm>
          <a:prstGeom prst="roundedRectangle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49" name="Shape 44"/>
          <p:cNvSpPr/>
          <p:nvPr/>
        </p:nvSpPr>
        <p:spPr>
          <a:xfrm>
            <a:off x="3182112" y="1444752"/>
            <a:ext cx="2231136" cy="43159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5"/>
          <p:cNvSpPr/>
          <p:nvPr/>
        </p:nvSpPr>
        <p:spPr>
          <a:xfrm>
            <a:off x="3182112" y="1444752"/>
            <a:ext cx="2231136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Shape 46"/>
          <p:cNvSpPr/>
          <p:nvPr/>
        </p:nvSpPr>
        <p:spPr>
          <a:xfrm>
            <a:off x="3182112" y="1444752"/>
            <a:ext cx="624718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47"/>
          <p:cNvSpPr/>
          <p:nvPr/>
        </p:nvSpPr>
        <p:spPr>
          <a:xfrm>
            <a:off x="3273552" y="1719072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종류의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누수인가요?</a:t>
            </a:r>
            <a:endParaRPr lang="en-US" sz="1600" dirty="0"/>
          </a:p>
        </p:txBody>
      </p:sp>
      <p:sp>
        <p:nvSpPr>
          <p:cNvPr id="53" name="Text 48"/>
          <p:cNvSpPr/>
          <p:nvPr/>
        </p:nvSpPr>
        <p:spPr>
          <a:xfrm>
            <a:off x="3273552" y="245059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유형을 선택해주세요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3273552" y="2862072"/>
            <a:ext cx="2048256" cy="502920"/>
          </a:xfrm>
          <a:prstGeom prst="roundedRectangle">
            <a:avLst>
              <a:gd name="adj" fmla="val 18182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3364992" y="290779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💧 배관 누수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3364992" y="311810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벽/바닥에서 물이 새요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3273552" y="3456432"/>
            <a:ext cx="2048256" cy="502920"/>
          </a:xfrm>
          <a:prstGeom prst="roundedRectangle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3364992" y="35021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🚿 욕실/화장실</a:t>
            </a:r>
            <a:endParaRPr lang="en-US" sz="1000" dirty="0"/>
          </a:p>
        </p:txBody>
      </p:sp>
      <p:sp>
        <p:nvSpPr>
          <p:cNvPr id="59" name="Text 54"/>
          <p:cNvSpPr/>
          <p:nvPr/>
        </p:nvSpPr>
        <p:spPr>
          <a:xfrm>
            <a:off x="3364992" y="371246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수전/타일 부근 누수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3273552" y="4050792"/>
            <a:ext cx="2048256" cy="502920"/>
          </a:xfrm>
          <a:prstGeom prst="roundedRectangle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3364992" y="40965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🏠 외벽/옥상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3364992" y="430682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침수/빗물 유입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3273552" y="4645152"/>
            <a:ext cx="2048256" cy="502920"/>
          </a:xfrm>
          <a:prstGeom prst="roundedRectangle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3364992" y="46908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❓ 잘 모르겠어요</a:t>
            </a:r>
            <a:endParaRPr lang="en-US" sz="1000" dirty="0"/>
          </a:p>
        </p:txBody>
      </p:sp>
      <p:sp>
        <p:nvSpPr>
          <p:cNvPr id="65" name="Text 60"/>
          <p:cNvSpPr/>
          <p:nvPr/>
        </p:nvSpPr>
        <p:spPr>
          <a:xfrm>
            <a:off x="3364992" y="49011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전문가가 확인해드려요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3273552" y="5257800"/>
            <a:ext cx="2048256" cy="365760"/>
          </a:xfrm>
          <a:prstGeom prst="roundedRectangle">
            <a:avLst>
              <a:gd name="adj" fmla="val 30000"/>
            </a:avLst>
          </a:prstGeom>
          <a:solidFill>
            <a:srgbClr val="0D9488"/>
          </a:solidFill>
          <a:ln/>
        </p:spPr>
      </p:sp>
      <p:sp>
        <p:nvSpPr>
          <p:cNvPr id="67" name="Text 62"/>
          <p:cNvSpPr/>
          <p:nvPr/>
        </p:nvSpPr>
        <p:spPr>
          <a:xfrm>
            <a:off x="3273552" y="52578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endParaRPr lang="en-US" sz="1200" dirty="0"/>
          </a:p>
        </p:txBody>
      </p:sp>
      <p:sp>
        <p:nvSpPr>
          <p:cNvPr id="68" name="Text 63"/>
          <p:cNvSpPr/>
          <p:nvPr/>
        </p:nvSpPr>
        <p:spPr>
          <a:xfrm>
            <a:off x="5669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접수 위자드</a:t>
            </a:r>
            <a:endParaRPr lang="en-US" sz="1600" dirty="0"/>
          </a:p>
        </p:txBody>
      </p:sp>
      <p:sp>
        <p:nvSpPr>
          <p:cNvPr id="69" name="Text 64"/>
          <p:cNvSpPr/>
          <p:nvPr/>
        </p:nvSpPr>
        <p:spPr>
          <a:xfrm>
            <a:off x="566928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requests/new · 토스 스타일 7단계</a:t>
            </a:r>
            <a:endParaRPr lang="en-US" sz="1000" dirty="0"/>
          </a:p>
        </p:txBody>
      </p:sp>
      <p:sp>
        <p:nvSpPr>
          <p:cNvPr id="70" name="Text 65"/>
          <p:cNvSpPr/>
          <p:nvPr/>
        </p:nvSpPr>
        <p:spPr>
          <a:xfrm>
            <a:off x="5669280" y="2103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프로그레스 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from-primary-600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to-purple-600</a:t>
            </a:r>
            <a:endParaRPr lang="en-US" sz="900" dirty="0"/>
          </a:p>
        </p:txBody>
      </p:sp>
      <p:sp>
        <p:nvSpPr>
          <p:cNvPr id="71" name="Text 66"/>
          <p:cNvSpPr/>
          <p:nvPr/>
        </p:nvSpPr>
        <p:spPr>
          <a:xfrm>
            <a:off x="5669280" y="3108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질문 텍스트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text-[22px] font-bold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1화면 1질문 원칙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5669280" y="41148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카드 라디오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시 border-primary-500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bg-primary-50</a:t>
            </a:r>
            <a:endParaRPr lang="en-US" sz="900" dirty="0"/>
          </a:p>
        </p:txBody>
      </p:sp>
      <p:sp>
        <p:nvSpPr>
          <p:cNvPr id="73" name="Text 68"/>
          <p:cNvSpPr/>
          <p:nvPr/>
        </p:nvSpPr>
        <p:spPr>
          <a:xfrm>
            <a:off x="566928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고정 버튼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w-full rounded-2xl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이전/다음 조합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상세 &amp; 견적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377440" cy="4754880"/>
          </a:xfrm>
          <a:prstGeom prst="roundedRectangle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51560"/>
            <a:ext cx="2286000" cy="1828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607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1280160" y="5623560"/>
            <a:ext cx="548640" cy="36576"/>
          </a:xfrm>
          <a:prstGeom prst="roundedRectangle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261872"/>
            <a:ext cx="2231136" cy="43159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30759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요청 상세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" y="1719072"/>
            <a:ext cx="128016" cy="128016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773936"/>
            <a:ext cx="361188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88366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001268" y="1719072"/>
            <a:ext cx="128016" cy="128016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9284" y="1773936"/>
            <a:ext cx="361188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" y="188366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1490472" y="1719072"/>
            <a:ext cx="128016" cy="128016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1618488" y="1773936"/>
            <a:ext cx="361188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188366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979676" y="1719072"/>
            <a:ext cx="128016" cy="128016"/>
          </a:xfrm>
          <a:prstGeom prst="oval">
            <a:avLst/>
          </a:prstGeom>
          <a:solidFill>
            <a:srgbClr val="D1D5DB"/>
          </a:solidFill>
          <a:ln/>
        </p:spPr>
      </p:sp>
      <p:sp>
        <p:nvSpPr>
          <p:cNvPr id="19" name="Shape 17"/>
          <p:cNvSpPr/>
          <p:nvPr/>
        </p:nvSpPr>
        <p:spPr>
          <a:xfrm>
            <a:off x="2107692" y="1773936"/>
            <a:ext cx="361188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Text 18"/>
          <p:cNvSpPr/>
          <p:nvPr/>
        </p:nvSpPr>
        <p:spPr>
          <a:xfrm>
            <a:off x="1815084" y="188366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시공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468880" y="1719072"/>
            <a:ext cx="128016" cy="128016"/>
          </a:xfrm>
          <a:prstGeom prst="oval">
            <a:avLst/>
          </a:prstGeom>
          <a:solidFill>
            <a:srgbClr val="D1D5DB"/>
          </a:solidFill>
          <a:ln/>
        </p:spPr>
      </p:sp>
      <p:sp>
        <p:nvSpPr>
          <p:cNvPr id="22" name="Text 20"/>
          <p:cNvSpPr/>
          <p:nvPr/>
        </p:nvSpPr>
        <p:spPr>
          <a:xfrm>
            <a:off x="2304288" y="188366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84632" y="2176272"/>
            <a:ext cx="2139696" cy="1097280"/>
          </a:xfrm>
          <a:prstGeom prst="roundedRectangle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24942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배관 누수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246888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강남구 역삼동 123-45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접수일: 2026.03.08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긴급도: 보통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" y="341071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사진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" y="3639312"/>
            <a:ext cx="548640" cy="548640"/>
          </a:xfrm>
          <a:prstGeom prst="roundedRectangle">
            <a:avLst>
              <a:gd name="adj" fmla="val 10000"/>
            </a:avLst>
          </a:prstGeom>
          <a:solidFill>
            <a:srgbClr val="E5E7E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0432" y="3639312"/>
            <a:ext cx="548640" cy="548640"/>
          </a:xfrm>
          <a:prstGeom prst="roundedRectangle">
            <a:avLst>
              <a:gd name="adj" fmla="val 10000"/>
            </a:avLst>
          </a:prstGeom>
          <a:solidFill>
            <a:srgbClr val="E5E7EB"/>
          </a:solidFill>
          <a:ln/>
        </p:spPr>
      </p:sp>
      <p:sp>
        <p:nvSpPr>
          <p:cNvPr id="29" name="Shape 27"/>
          <p:cNvSpPr/>
          <p:nvPr/>
        </p:nvSpPr>
        <p:spPr>
          <a:xfrm>
            <a:off x="1810512" y="3639312"/>
            <a:ext cx="548640" cy="548640"/>
          </a:xfrm>
          <a:prstGeom prst="roundedRectangle">
            <a:avLst>
              <a:gd name="adj" fmla="val 10000"/>
            </a:avLst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3108960" y="1005840"/>
            <a:ext cx="2377440" cy="4754880"/>
          </a:xfrm>
          <a:prstGeom prst="roundedRectangle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1051560"/>
            <a:ext cx="2286000" cy="1828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10607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9:41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4023360" y="5623560"/>
            <a:ext cx="548640" cy="36576"/>
          </a:xfrm>
          <a:prstGeom prst="roundedRectangle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2112" y="1261872"/>
            <a:ext cx="2231136" cy="431596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5" name="Text 33"/>
          <p:cNvSpPr/>
          <p:nvPr/>
        </p:nvSpPr>
        <p:spPr>
          <a:xfrm>
            <a:off x="3227832" y="130759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견적 상세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27832" y="1719072"/>
            <a:ext cx="2139696" cy="2286000"/>
          </a:xfrm>
          <a:prstGeom prst="roundedRectangle">
            <a:avLst>
              <a:gd name="adj" fmla="val 427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17922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항목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19272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 탐지 (열화상)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24528" y="2084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80,000원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19272" y="2340864"/>
            <a:ext cx="1956816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Text 39"/>
          <p:cNvSpPr/>
          <p:nvPr/>
        </p:nvSpPr>
        <p:spPr>
          <a:xfrm>
            <a:off x="3319272" y="24048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배관 수리 (PB관)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24528" y="24048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350,000원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19272" y="2660904"/>
            <a:ext cx="1956816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4" name="Text 42"/>
          <p:cNvSpPr/>
          <p:nvPr/>
        </p:nvSpPr>
        <p:spPr>
          <a:xfrm>
            <a:off x="3319272" y="2724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복구 (타일)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24528" y="27249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150,000원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19272" y="2980944"/>
            <a:ext cx="1956816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7" name="Text 45"/>
          <p:cNvSpPr/>
          <p:nvPr/>
        </p:nvSpPr>
        <p:spPr>
          <a:xfrm>
            <a:off x="3319272" y="3044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출장비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24528" y="3044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50,000원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19272" y="3410712"/>
            <a:ext cx="1956816" cy="1828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0" name="Text 48"/>
          <p:cNvSpPr/>
          <p:nvPr/>
        </p:nvSpPr>
        <p:spPr>
          <a:xfrm>
            <a:off x="3319272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767328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630,000원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227832" y="4233672"/>
            <a:ext cx="1046988" cy="365760"/>
          </a:xfrm>
          <a:prstGeom prst="roundedRectangle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27832" y="4233672"/>
            <a:ext cx="1046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거절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20540" y="4233672"/>
            <a:ext cx="1046988" cy="365760"/>
          </a:xfrm>
          <a:prstGeom prst="roundedRectangle">
            <a:avLst>
              <a:gd name="adj" fmla="val 30000"/>
            </a:avLst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4320540" y="4233672"/>
            <a:ext cx="1046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수락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4360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상세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requests/show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94360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5단계 상태 타임라인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(접수→배정→견적→시공→완료)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기본 정보 카드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첨부 사진/영상 영역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전문가 정보 카드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436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상세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estimates/show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943600" y="38404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항목별 견적 리스트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큰 합계 금액 강조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text-2xl font-extrabold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text-primary-600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수락/거절 버튼 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네비게이션 &amp; 공통 패턴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탭 네비게이션 (모바일)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822960"/>
          </a:xfrm>
          <a:prstGeom prst="roundedRectangle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요청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3360" y="1554480"/>
            <a:ext cx="457200" cy="45720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2763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9496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94944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토스트 알림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971800"/>
            <a:ext cx="4114800" cy="502920"/>
          </a:xfrm>
          <a:prstGeom prst="roundedRectangle">
            <a:avLst>
              <a:gd name="adj" fmla="val 27273"/>
            </a:avLst>
          </a:prstGeom>
          <a:solidFill>
            <a:srgbClr val="11182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저장되었습니다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bg-gray-900 text-white rounded-2xl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bottom-20 (모바일) / bottom-6 (데스크톱)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스켈레톤 로딩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114800"/>
            <a:ext cx="4114800" cy="1097280"/>
          </a:xfrm>
          <a:prstGeom prst="roundedRectangle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4251960"/>
            <a:ext cx="457200" cy="457200"/>
          </a:xfrm>
          <a:prstGeom prst="oval">
            <a:avLst/>
          </a:prstGeom>
          <a:solidFill>
            <a:srgbClr val="E5E7EB"/>
          </a:solidFill>
          <a:ln/>
        </p:spPr>
      </p:sp>
      <p:sp>
        <p:nvSpPr>
          <p:cNvPr id="20" name="Shape 16"/>
          <p:cNvSpPr/>
          <p:nvPr/>
        </p:nvSpPr>
        <p:spPr>
          <a:xfrm>
            <a:off x="1371600" y="4297680"/>
            <a:ext cx="2286000" cy="164592"/>
          </a:xfrm>
          <a:prstGeom prst="roundedRectangle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1" name="Shape 17"/>
          <p:cNvSpPr/>
          <p:nvPr/>
        </p:nvSpPr>
        <p:spPr>
          <a:xfrm>
            <a:off x="1371600" y="4526280"/>
            <a:ext cx="1645920" cy="137160"/>
          </a:xfrm>
          <a:prstGeom prst="roundedRectangle">
            <a:avLst>
              <a:gd name="adj" fmla="val 46667"/>
            </a:avLst>
          </a:prstGeom>
          <a:solidFill>
            <a:srgbClr val="F3F4F6"/>
          </a:solidFill>
          <a:ln/>
        </p:spPr>
      </p:sp>
      <p:sp>
        <p:nvSpPr>
          <p:cNvPr id="22" name="Shape 18"/>
          <p:cNvSpPr/>
          <p:nvPr/>
        </p:nvSpPr>
        <p:spPr>
          <a:xfrm>
            <a:off x="731520" y="4846320"/>
            <a:ext cx="3657600" cy="109728"/>
          </a:xfrm>
          <a:prstGeom prst="roundedRectangle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0" y="4206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animate-pulse + shimmer 효과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bg-gray-200 → gray-100 반복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4864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헤더 (뒤로가기)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48640" y="5760720"/>
            <a:ext cx="4114800" cy="640080"/>
          </a:xfrm>
          <a:prstGeom prst="roundedRectangle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31520" y="5806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돌아가기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31520" y="6016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상세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5029200" y="5760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shared/_page_header.html.erb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link + h1 text-[22px]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&amp; 관리자 대시보드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대시보드 (masters/)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2468880"/>
          </a:xfrm>
          <a:prstGeom prst="roundedRectangle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1645920" cy="24688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누수체크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645920" cy="274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013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0939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 오더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386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요청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2679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보험청구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2644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137160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달 매출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6032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4,520,000원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77640" y="137160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6908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8A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137160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진행중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57784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137160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417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086600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68880" y="2194560"/>
            <a:ext cx="2926080" cy="1325880"/>
          </a:xfrm>
          <a:prstGeom prst="roundedRectangle">
            <a:avLst>
              <a:gd name="adj" fmla="val 5517"/>
            </a:avLst>
          </a:prstGeom>
          <a:solidFill>
            <a:srgbClr val="F9FAFB"/>
          </a:solidFill>
          <a:ln/>
        </p:spPr>
      </p:sp>
      <p:sp>
        <p:nvSpPr>
          <p:cNvPr id="27" name="Text 25"/>
          <p:cNvSpPr/>
          <p:nvPr/>
        </p:nvSpPr>
        <p:spPr>
          <a:xfrm>
            <a:off x="2468880" y="2194560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매출 차트 (Chart.js)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194560"/>
            <a:ext cx="2788920" cy="1325880"/>
          </a:xfrm>
          <a:prstGeom prst="roundedRectangle">
            <a:avLst>
              <a:gd name="adj" fmla="val 5517"/>
            </a:avLst>
          </a:prstGeom>
          <a:solidFill>
            <a:srgbClr val="F9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22860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요청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배관 누수 · 강남구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욕실 누수 · 서초구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3108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외벽 침수 · 송파구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대시보드 (admin/)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8046720" cy="2103120"/>
          </a:xfrm>
          <a:prstGeom prst="roundedRectangle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343400"/>
            <a:ext cx="1645920" cy="210312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480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846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31520" y="5074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관리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31520" y="53035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관리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31520" y="5532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보험청구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31520" y="57607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에스크로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31520" y="5989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468880" y="448056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0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체크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560320" y="4736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1,247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77640" y="448056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47" name="Text 45"/>
          <p:cNvSpPr/>
          <p:nvPr/>
        </p:nvSpPr>
        <p:spPr>
          <a:xfrm>
            <a:off x="4069080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마스터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069080" y="4736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86400" y="448056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50" name="Text 48"/>
          <p:cNvSpPr/>
          <p:nvPr/>
        </p:nvSpPr>
        <p:spPr>
          <a:xfrm>
            <a:off x="5577840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매출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577840" y="4736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12.3M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995160" y="4480560"/>
            <a:ext cx="1371600" cy="640080"/>
          </a:xfrm>
          <a:prstGeom prst="roundedRectangle">
            <a:avLst>
              <a:gd name="adj" fmla="val 11429"/>
            </a:avLst>
          </a:prstGeom>
          <a:solidFill>
            <a:srgbClr val="F9FAFB"/>
          </a:solidFill>
          <a:ln/>
        </p:spPr>
      </p:sp>
      <p:sp>
        <p:nvSpPr>
          <p:cNvPr id="53" name="Text 51"/>
          <p:cNvSpPr/>
          <p:nvPr/>
        </p:nvSpPr>
        <p:spPr>
          <a:xfrm>
            <a:off x="7086600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만족도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86600" y="4736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468880" y="5303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테이블 / 차트 영역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5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맵 &amp; 우선순위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→ P1 → P2 순서로 개발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5029200"/>
          </a:xfrm>
          <a:prstGeom prst="roundedRectangle">
            <a:avLst>
              <a:gd name="adj" fmla="val 517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371600" cy="320040"/>
          </a:xfrm>
          <a:prstGeom prst="roundedRectangle">
            <a:avLst>
              <a:gd name="adj" fmla="val 48571"/>
            </a:avLst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P0 - 핵심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랜딩 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532888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32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대시보드 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083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접수 위자드 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483864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83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로그인/회원가입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959352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59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상세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견적 상세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1417320"/>
            <a:ext cx="2651760" cy="5029200"/>
          </a:xfrm>
          <a:prstGeom prst="roundedRectangle">
            <a:avLst>
              <a:gd name="adj" fmla="val 517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1554480"/>
            <a:ext cx="1371600" cy="320040"/>
          </a:xfrm>
          <a:prstGeom prst="roundedRectangle">
            <a:avLst>
              <a:gd name="adj" fmla="val 48571"/>
            </a:avLst>
          </a:prstGeom>
          <a:solidFill>
            <a:srgbClr val="FEF9C3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P1 - 주요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2057400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057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목록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2532888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532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 신청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0" y="3008376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0083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(체크아웃)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3483864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3483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대시보드 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3959352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959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요청관리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0" y="4434840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견적작성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4910328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4910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메시지/채팅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1417320"/>
            <a:ext cx="2651760" cy="5029200"/>
          </a:xfrm>
          <a:prstGeom prst="roundedRectangle">
            <a:avLst>
              <a:gd name="adj" fmla="val 517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46520" y="1554480"/>
            <a:ext cx="1371600" cy="320040"/>
          </a:xfrm>
          <a:prstGeom prst="roundedRectangle">
            <a:avLst>
              <a:gd name="adj" fmla="val 48571"/>
            </a:avLst>
          </a:prstGeom>
          <a:solidFill>
            <a:srgbClr val="F3E8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33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P2 - 부가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2057400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057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46520" y="2532888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2532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6520" y="3008376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30083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작성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3483864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483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목록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46520" y="3959352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9593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대시보드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46520" y="4434840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페이지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46520" y="4910328"/>
            <a:ext cx="2377440" cy="384048"/>
          </a:xfrm>
          <a:prstGeom prst="roundedRectangle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4910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보험/정산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DESIGN_SYSTEM.md 참조 · Pretendard · Tailwind CSS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누수체크 앱 디자인 시스템 v2</dc:title>
  <dc:subject>PptxGenJS Presentation</dc:subject>
  <dc:creator>누수체크 디자인팀</dc:creator>
  <cp:lastModifiedBy>누수체크 디자인팀</cp:lastModifiedBy>
  <cp:revision>1</cp:revision>
  <dcterms:created xsi:type="dcterms:W3CDTF">2026-03-08T23:17:38Z</dcterms:created>
  <dcterms:modified xsi:type="dcterms:W3CDTF">2026-03-08T23:17:38Z</dcterms:modified>
</cp:coreProperties>
</file>