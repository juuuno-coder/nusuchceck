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oval">
            <a:avLst/>
          </a:prstGeom>
          <a:solidFill>
            <a:srgbClr val="0F766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0"/>
            <a:ext cx="3200400" cy="3200400"/>
          </a:xfrm>
          <a:prstGeom prst="oval">
            <a:avLst/>
          </a:prstGeom>
          <a:solidFill>
            <a:srgbClr val="0F766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1828800" cy="1828800"/>
          </a:xfrm>
          <a:prstGeom prst="oval">
            <a:avLst/>
          </a:prstGeom>
          <a:solidFill>
            <a:srgbClr val="9333E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3716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누수체크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F6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v3.0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토스 · 당근마켓 · 미소 레퍼런스 기반 | 모바일 퍼스트 | 접근성 우선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34E4A">
              <a:alpha val="7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2026.03 |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원칙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6가지 핵심 원칙으로 일관된 사용자 경험을 보장합니다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468880" cy="1371600"/>
          </a:xfrm>
          <a:prstGeom prst="roundedRectangle">
            <a:avLst>
              <a:gd name="adj" fmla="val 8000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365760" cy="36576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퍼스트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375px 기준 설계 후 데스크톱 확장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468880" cy="1371600"/>
          </a:xfrm>
          <a:prstGeom prst="roundedRectangle">
            <a:avLst>
              <a:gd name="adj" fmla="val 8000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600200"/>
            <a:ext cx="365760" cy="365760"/>
          </a:xfrm>
          <a:prstGeom prst="oval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기반 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정보 블록은 rounded-2xl 카드 안에 배치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2468880" cy="1371600"/>
          </a:xfrm>
          <a:prstGeom prst="roundedRectangle">
            <a:avLst>
              <a:gd name="adj" fmla="val 8000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600200"/>
            <a:ext cx="365760" cy="365760"/>
          </a:xfrm>
          <a:prstGeom prst="oval">
            <a:avLst/>
          </a:prstGeom>
          <a:solidFill>
            <a:srgbClr val="115E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1화면 1목적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화면은 하나의 주요 액션에 집중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2468880" cy="1371600"/>
          </a:xfrm>
          <a:prstGeom prst="roundedRectangle">
            <a:avLst>
              <a:gd name="adj" fmla="val 8000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154680"/>
            <a:ext cx="365760" cy="365760"/>
          </a:xfrm>
          <a:prstGeom prst="oval">
            <a:avLst/>
          </a:prstGeom>
          <a:solidFill>
            <a:srgbClr val="9333E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일관된 모션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전환 200-300ms ease-out 통일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468880" cy="1371600"/>
          </a:xfrm>
          <a:prstGeom prst="roundedRectangle">
            <a:avLst>
              <a:gd name="adj" fmla="val 8000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154680"/>
            <a:ext cx="365760" cy="365760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우선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WCAG AA 4.5:1 명도대비, 44px 터치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0" y="3017520"/>
            <a:ext cx="2468880" cy="1371600"/>
          </a:xfrm>
          <a:prstGeom prst="roundedRectangle">
            <a:avLst>
              <a:gd name="adj" fmla="val 8000"/>
            </a:avLst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3154680"/>
            <a:ext cx="365760" cy="365760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친근한 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076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"신고"→"체크", 부드러운 문구, 이모지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663440"/>
            <a:ext cx="8046720" cy="1463040"/>
          </a:xfrm>
          <a:prstGeom prst="roundedRectangle">
            <a:avLst>
              <a:gd name="adj" fmla="val 6250"/>
            </a:avLst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5120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당근마켓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5376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UI, 리스트, 하단 탭, border 카드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0" y="5120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74720" y="5376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위자드, 히어로, 큰 타이포, 바텀시트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26480" y="5120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26480" y="5376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플로우, 리뷰/신뢰, 전문가 프로필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Teal 기반 Primary + Purple AI + Orange 액센트 + 6가지 상태 색상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(Teal)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68680" cy="640080"/>
          </a:xfrm>
          <a:prstGeom prst="roundedRectangle">
            <a:avLst>
              <a:gd name="adj" fmla="val 8571"/>
            </a:avLst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#f0fdfa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508760" y="1691640"/>
            <a:ext cx="868680" cy="640080"/>
          </a:xfrm>
          <a:prstGeom prst="roundedRectangle">
            <a:avLst>
              <a:gd name="adj" fmla="val 8571"/>
            </a:avLst>
          </a:prstGeom>
          <a:solidFill>
            <a:srgbClr val="CCFBF1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7830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9659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#ccfbf1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468880" y="1691640"/>
            <a:ext cx="868680" cy="640080"/>
          </a:xfrm>
          <a:prstGeom prst="roundedRectangle">
            <a:avLst>
              <a:gd name="adj" fmla="val 8571"/>
            </a:avLst>
          </a:prstGeom>
          <a:solidFill>
            <a:srgbClr val="99F6E4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7830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19659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#99f6e4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29000" y="1691640"/>
            <a:ext cx="868680" cy="640080"/>
          </a:xfrm>
          <a:prstGeom prst="roundedRectangle">
            <a:avLst>
              <a:gd name="adj" fmla="val 8571"/>
            </a:avLst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7830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#14b8a6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389120" y="1691640"/>
            <a:ext cx="868680" cy="640080"/>
          </a:xfrm>
          <a:prstGeom prst="roundedRectangle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7830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19659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#0d9488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349240" y="1691640"/>
            <a:ext cx="868680" cy="640080"/>
          </a:xfrm>
          <a:prstGeom prst="roundedRectangle">
            <a:avLst>
              <a:gd name="adj" fmla="val 8571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17830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19659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#0f766e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309360" y="1691640"/>
            <a:ext cx="868680" cy="640080"/>
          </a:xfrm>
          <a:prstGeom prst="roundedRectangle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7830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19659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#115e59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269480" y="1691640"/>
            <a:ext cx="868680" cy="640080"/>
          </a:xfrm>
          <a:prstGeom prst="roundedRectangle">
            <a:avLst>
              <a:gd name="adj" fmla="val 8571"/>
            </a:avLst>
          </a:prstGeom>
          <a:solidFill>
            <a:srgbClr val="134E4A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17830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69480" y="19659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#134e4a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486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Secondary &amp; Accent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2880360"/>
            <a:ext cx="1097280" cy="548640"/>
          </a:xfrm>
          <a:prstGeom prst="roundedRectangle">
            <a:avLst>
              <a:gd name="adj" fmla="val 10000"/>
            </a:avLst>
          </a:prstGeom>
          <a:solidFill>
            <a:srgbClr val="FAF5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Purple 50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3154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#faf5ff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737360" y="2880360"/>
            <a:ext cx="1097280" cy="548640"/>
          </a:xfrm>
          <a:prstGeom prst="roundedRectangle">
            <a:avLst>
              <a:gd name="adj" fmla="val 10000"/>
            </a:avLst>
          </a:prstGeom>
          <a:solidFill>
            <a:srgbClr val="F3E8FF"/>
          </a:solidFill>
          <a:ln/>
        </p:spPr>
      </p:sp>
      <p:sp>
        <p:nvSpPr>
          <p:cNvPr id="35" name="Text 33"/>
          <p:cNvSpPr/>
          <p:nvPr/>
        </p:nvSpPr>
        <p:spPr>
          <a:xfrm>
            <a:off x="173736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Purple 100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37360" y="3154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#f3e8ff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926080" y="2880360"/>
            <a:ext cx="1097280" cy="548640"/>
          </a:xfrm>
          <a:prstGeom prst="roundedRectangle">
            <a:avLst>
              <a:gd name="adj" fmla="val 10000"/>
            </a:avLst>
          </a:prstGeom>
          <a:solidFill>
            <a:srgbClr val="9333EA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Purple 600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926080" y="3154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#9333ea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114800" y="2880360"/>
            <a:ext cx="1097280" cy="548640"/>
          </a:xfrm>
          <a:prstGeom prst="roundedRectangle">
            <a:avLst>
              <a:gd name="adj" fmla="val 10000"/>
            </a:avLst>
          </a:prstGeom>
          <a:solidFill>
            <a:srgbClr val="FB923C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Orange 400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14800" y="3154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#fb923c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03520" y="2880360"/>
            <a:ext cx="1097280" cy="548640"/>
          </a:xfrm>
          <a:prstGeom prst="roundedRectangle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0" y="2971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Orange 500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03520" y="3154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#f97316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486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색상 (Status)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4069080"/>
            <a:ext cx="1234440" cy="457200"/>
          </a:xfrm>
          <a:prstGeom prst="roundedRectangle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069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승인/완료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74520" y="4069080"/>
            <a:ext cx="1234440" cy="457200"/>
          </a:xfrm>
          <a:prstGeom prst="roundedRectangle">
            <a:avLst>
              <a:gd name="adj" fmla="val 50000"/>
            </a:avLst>
          </a:prstGeom>
          <a:solidFill>
            <a:srgbClr val="FEF9C3"/>
          </a:solidFill>
          <a:ln/>
        </p:spPr>
      </p:sp>
      <p:sp>
        <p:nvSpPr>
          <p:cNvPr id="50" name="Text 48"/>
          <p:cNvSpPr/>
          <p:nvPr/>
        </p:nvSpPr>
        <p:spPr>
          <a:xfrm>
            <a:off x="1874520" y="4069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1620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대기/진행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0" y="4069080"/>
            <a:ext cx="1234440" cy="457200"/>
          </a:xfrm>
          <a:prstGeom prst="roundedRectangle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0" y="4069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배정/처리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26280" y="4069080"/>
            <a:ext cx="1234440" cy="457200"/>
          </a:xfrm>
          <a:prstGeom prst="roundedRectangle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54" name="Text 52"/>
          <p:cNvSpPr/>
          <p:nvPr/>
        </p:nvSpPr>
        <p:spPr>
          <a:xfrm>
            <a:off x="4526280" y="4069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거절/오류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52160" y="4069080"/>
            <a:ext cx="1234440" cy="457200"/>
          </a:xfrm>
          <a:prstGeom prst="roundedRectangle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56" name="Text 54"/>
          <p:cNvSpPr/>
          <p:nvPr/>
        </p:nvSpPr>
        <p:spPr>
          <a:xfrm>
            <a:off x="5852160" y="4069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접수/기본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178040" y="4069080"/>
            <a:ext cx="1234440" cy="457200"/>
          </a:xfrm>
          <a:prstGeom prst="roundedRectangle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58" name="Text 56"/>
          <p:cNvSpPr/>
          <p:nvPr/>
        </p:nvSpPr>
        <p:spPr>
          <a:xfrm>
            <a:off x="7178040" y="4069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AI분석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그림자 시스템 (Elevation)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5074920"/>
            <a:ext cx="1828800" cy="1097280"/>
          </a:xfrm>
          <a:prstGeom prst="roundedRectangle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5212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85800" y="5440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카드 (border만)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0" y="5074920"/>
            <a:ext cx="1828800" cy="1097280"/>
          </a:xfrm>
          <a:prstGeom prst="rounded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2697480" y="5212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697480" y="5440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호버 카드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572000" y="5074920"/>
            <a:ext cx="1828800" cy="1097280"/>
          </a:xfrm>
          <a:prstGeom prst="rounded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709160" y="5212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2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709160" y="5440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드롭다운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583680" y="5074920"/>
            <a:ext cx="1828800" cy="1097280"/>
          </a:xfrm>
          <a:prstGeom prst="roundedRectangle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63500" dir="8100000">
              <a:srgbClr val="000000">
                <a:alpha val="1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6720840" y="5212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20840" y="5440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모달/바텀시트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타이포그래피 &amp; 간격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Pretendard Variable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히어로 제목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40480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text-[28px] font-extrabold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lh: 1.2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제목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text-[22px] font-bold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0" y="1965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lh: 1.3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text-lg font-bold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lh: 1.4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제목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2770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text-base font-bold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0" y="2770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lh: 1.4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3072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텍스트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0" y="31181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text-sm font-medium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31181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lh: 1.5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34198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3465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text-xs font-normal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0" y="34655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lh: 1.4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색상 계층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1234440" cy="411480"/>
          </a:xfrm>
          <a:prstGeom prst="roundedRectangle">
            <a:avLst>
              <a:gd name="adj" fmla="val 13333"/>
            </a:avLst>
          </a:prstGeom>
          <a:solidFill>
            <a:srgbClr val="F9FAF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434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제목/강조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#111827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74520" y="4315968"/>
            <a:ext cx="1234440" cy="411480"/>
          </a:xfrm>
          <a:prstGeom prst="roundedRectangle">
            <a:avLst>
              <a:gd name="adj" fmla="val 13333"/>
            </a:avLst>
          </a:prstGeom>
          <a:solidFill>
            <a:srgbClr val="F9FAFB"/>
          </a:solidFill>
          <a:ln/>
        </p:spPr>
      </p:sp>
      <p:sp>
        <p:nvSpPr>
          <p:cNvPr id="28" name="Text 26"/>
          <p:cNvSpPr/>
          <p:nvPr/>
        </p:nvSpPr>
        <p:spPr>
          <a:xfrm>
            <a:off x="1874520" y="43434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74520" y="45262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#374151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00400" y="4315968"/>
            <a:ext cx="1234440" cy="411480"/>
          </a:xfrm>
          <a:prstGeom prst="roundedRectangle">
            <a:avLst>
              <a:gd name="adj" fmla="val 13333"/>
            </a:avLst>
          </a:prstGeom>
          <a:solidFill>
            <a:srgbClr val="F9FAFB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43434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부가정보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45262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#6b7280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526280" y="4315968"/>
            <a:ext cx="1234440" cy="411480"/>
          </a:xfrm>
          <a:prstGeom prst="roundedRectangle">
            <a:avLst>
              <a:gd name="adj" fmla="val 13333"/>
            </a:avLst>
          </a:prstGeom>
          <a:solidFill>
            <a:srgbClr val="F9FAFB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3434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26280" y="45262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#9ca3af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852160" y="4315968"/>
            <a:ext cx="1234440" cy="411480"/>
          </a:xfrm>
          <a:prstGeom prst="roundedRectangle">
            <a:avLst>
              <a:gd name="adj" fmla="val 13333"/>
            </a:avLst>
          </a:prstGeom>
          <a:solidFill>
            <a:srgbClr val="F9FAFB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0" y="43434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0" y="45262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#0d9488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178040" y="4315968"/>
            <a:ext cx="1234440" cy="411480"/>
          </a:xfrm>
          <a:prstGeom prst="roundedRectangle">
            <a:avLst>
              <a:gd name="adj" fmla="val 13333"/>
            </a:avLst>
          </a:prstGeom>
          <a:solidFill>
            <a:srgbClr val="F9FAFB"/>
          </a:solidFill>
          <a:ln/>
        </p:spPr>
      </p:sp>
      <p:sp>
        <p:nvSpPr>
          <p:cNvPr id="40" name="Text 38"/>
          <p:cNvSpPr/>
          <p:nvPr/>
        </p:nvSpPr>
        <p:spPr>
          <a:xfrm>
            <a:off x="7178040" y="43434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78040" y="45262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#dc2626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58000" y="1097280"/>
            <a:ext cx="2011680" cy="5029200"/>
          </a:xfrm>
          <a:prstGeom prst="roundedRectangle">
            <a:avLst>
              <a:gd name="adj" fmla="val 4545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8px 그리드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95160" y="1508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gap-2  =  8px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95160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gap-3  = 12px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95160" y="20939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p-4    = 16px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95160" y="2386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p-5    = 20px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95160" y="2679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mb-6  = 24px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95160" y="2971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mb-8  = 32px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95160" y="3264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px-4  = 16px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95160" y="35570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5160" y="38496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max-w-4xl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995160" y="4142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896px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95160" y="4434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95160" y="4727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pb-20 (모바일)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95160" y="5020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하단 네비 공간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컴포넌트: 버튼 상태 매트릭스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버튼은 5가지 상태를 반드시 구현합니다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Default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8328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Active/Press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2648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Disabled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Loading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160020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6002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60020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6002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115E59"/>
          </a:solidFill>
          <a:ln w="6350">
            <a:solidFill>
              <a:srgbClr val="115E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002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002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60020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6002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처리중...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10312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scale(0.98)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265176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2651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65176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651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65176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651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65176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651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265176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2651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처리중...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Danger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11680" y="370332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0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370332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70332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370332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98080" y="370332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처리중...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Ghost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11680" y="475488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11680" y="4754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83280" y="475488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F0F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4754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75488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754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텍스트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26480" y="475488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4754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98080" y="4754880"/>
            <a:ext cx="1234440" cy="502920"/>
          </a:xfrm>
          <a:prstGeom prst="roundedRectangle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0" y="4754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처리중...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5669280"/>
            <a:ext cx="8046720" cy="822960"/>
          </a:xfrm>
          <a:prstGeom prst="roundedRectangle">
            <a:avLst>
              <a:gd name="adj" fmla="val 8889"/>
            </a:avLst>
          </a:prstGeom>
          <a:solidFill>
            <a:srgbClr val="FEF2F2"/>
          </a:solidFill>
          <a:ln w="6350">
            <a:solidFill>
              <a:srgbClr val="FEE2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5760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CTA는 항상 w-full | rounded-2xl 통일 | 높이 최소 48px | 그라디언트는 랜딩/최종 CTA에서만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컴포넌트: 카드 &amp; 뱃지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06040" cy="1737360"/>
          </a:xfrm>
          <a:prstGeom prst="roundedRectangle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카드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bg-white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rounded-2xl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border-2 border-gray-100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06040" cy="1737360"/>
          </a:xfrm>
          <a:prstGeom prst="roundedRectangle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인터랙티브 카드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1600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hover:shadow-lg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hover:border-primary-200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hover:-translate-y-0.5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06040" cy="1737360"/>
          </a:xfrm>
          <a:prstGeom prst="roundedRectangle">
            <a:avLst>
              <a:gd name="adj" fmla="val 6316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 카드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600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bg-gradient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from-primary-600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to-primary-700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2606040" cy="1737360"/>
          </a:xfrm>
          <a:prstGeom prst="roundedRectangle">
            <a:avLst>
              <a:gd name="adj" fmla="val 6316"/>
            </a:avLst>
          </a:prstGeom>
          <a:solidFill>
            <a:srgbClr val="F0FDFA"/>
          </a:solidFill>
          <a:ln w="1524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알림/가이드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bg-primary-50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border-primary-100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3108960"/>
            <a:ext cx="2606040" cy="1737360"/>
          </a:xfrm>
          <a:prstGeom prst="roundedRectangle">
            <a:avLst>
              <a:gd name="adj" fmla="val 6316"/>
            </a:avLst>
          </a:prstGeom>
          <a:solidFill>
            <a:srgbClr val="FFF7ED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카드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bg-orange-50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border-orange-200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2606040" cy="1737360"/>
          </a:xfrm>
          <a:prstGeom prst="roundedRectangle">
            <a:avLst>
              <a:gd name="adj" fmla="val 6316"/>
            </a:avLst>
          </a:prstGeom>
          <a:solidFill>
            <a:srgbClr val="FEF2F2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카드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bg-red-50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border-red-200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뱃지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1234440" cy="365760"/>
          </a:xfrm>
          <a:prstGeom prst="roundedRectangle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577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20240" y="5577840"/>
            <a:ext cx="1234440" cy="365760"/>
          </a:xfrm>
          <a:prstGeom prst="roundedRectangle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1920240" y="5577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5577840"/>
            <a:ext cx="1234440" cy="365760"/>
          </a:xfrm>
          <a:prstGeom prst="roundedRectangle">
            <a:avLst>
              <a:gd name="adj" fmla="val 50000"/>
            </a:avLst>
          </a:prstGeom>
          <a:solidFill>
            <a:srgbClr val="FEF9C3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5577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1620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대기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5577840"/>
            <a:ext cx="1234440" cy="365760"/>
          </a:xfrm>
          <a:prstGeom prst="roundedRectangle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5577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거절됨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5577840"/>
            <a:ext cx="1234440" cy="365760"/>
          </a:xfrm>
          <a:prstGeom prst="roundedRectangle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5577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5577840"/>
            <a:ext cx="1234440" cy="365760"/>
          </a:xfrm>
          <a:prstGeom prst="roundedRectangle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5577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AI분석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컴포넌트: 폼 입력 상태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입력 필드는 6가지 상태를 구현합니다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(Default)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560320" cy="457200"/>
          </a:xfrm>
          <a:prstGeom prst="roundedRectangle">
            <a:avLst>
              <a:gd name="adj" fmla="val 24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입력해주세요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포커스 (Focus)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783080"/>
            <a:ext cx="2560320" cy="457200"/>
          </a:xfrm>
          <a:prstGeom prst="roundedRectangle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00984" y="1746504"/>
            <a:ext cx="2633472" cy="530352"/>
          </a:xfrm>
          <a:prstGeom prst="roundedRectangle">
            <a:avLst>
              <a:gd name="adj" fmla="val 24138"/>
            </a:avLst>
          </a:prstGeom>
          <a:solidFill>
            <a:srgbClr val="CCFBF1">
              <a:alpha val="40000"/>
            </a:srgbClr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중...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 입력됨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2560320" cy="457200"/>
          </a:xfrm>
          <a:prstGeom prst="roundedRectangle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강남구 역삼동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(Error)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2560320" cy="457200"/>
          </a:xfrm>
          <a:prstGeom prst="roundedRectangle">
            <a:avLst>
              <a:gd name="adj" fmla="val 2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01012345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46320"/>
            <a:ext cx="128016" cy="12801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3232" y="4828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유효한 전화번호를 입력해주세요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33756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(Success)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37560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337560" y="4343400"/>
            <a:ext cx="2560320" cy="457200"/>
          </a:xfrm>
          <a:prstGeom prst="roundedRectangle">
            <a:avLst>
              <a:gd name="adj" fmla="val 24000"/>
            </a:avLst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47288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01012345678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4462272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12648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 (Disabled)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126480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126480" y="4343400"/>
            <a:ext cx="2560320" cy="457200"/>
          </a:xfrm>
          <a:prstGeom prst="roundedRectangle">
            <a:avLst>
              <a:gd name="adj" fmla="val 24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236208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불가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앱: 랜딩 &amp; 대시보드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5029200"/>
          </a:xfrm>
          <a:prstGeom prst="roundedRectangle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2468880" cy="2011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69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417320" y="5870448"/>
            <a:ext cx="640080" cy="36576"/>
          </a:xfrm>
          <a:prstGeom prst="roundedRectangle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80160"/>
            <a:ext cx="237744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 새는 곳,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 마세요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F6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빠르게 점검해드려요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2651760"/>
            <a:ext cx="2103120" cy="320040"/>
          </a:xfrm>
          <a:prstGeom prst="roundedRectangle">
            <a:avLst>
              <a:gd name="adj" fmla="val 2857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체크 시작하기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2377440" cy="27432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3246120"/>
            <a:ext cx="2231136" cy="411480"/>
          </a:xfrm>
          <a:prstGeom prst="roundedRectangle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319272"/>
            <a:ext cx="256032" cy="256032"/>
          </a:xfrm>
          <a:prstGeom prst="oval">
            <a:avLst/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빠른 점검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" y="3749040"/>
            <a:ext cx="2231136" cy="411480"/>
          </a:xfrm>
          <a:prstGeom prst="roundedRectangle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3822192"/>
            <a:ext cx="256032" cy="256032"/>
          </a:xfrm>
          <a:prstGeom prst="oval">
            <a:avLst/>
          </a:prstGeom>
          <a:solidFill>
            <a:srgbClr val="CCFB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매칭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4251960"/>
            <a:ext cx="2231136" cy="411480"/>
          </a:xfrm>
          <a:prstGeom prst="roundedRectangle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4325112"/>
            <a:ext cx="256032" cy="256032"/>
          </a:xfrm>
          <a:prstGeom prst="oval">
            <a:avLst/>
          </a:prstGeom>
          <a:solidFill>
            <a:srgbClr val="CCFBF1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보험청구 자동화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0" y="1188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토스 스타일 히어로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bg-gradient from-primary-50 via-white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text-[28px] font-extrabold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2개 CTA (Primary + Secondary)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2560320" cy="5029200"/>
          </a:xfrm>
          <a:prstGeom prst="roundedRectangle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051560"/>
            <a:ext cx="2468880" cy="2011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069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086600" y="5870448"/>
            <a:ext cx="640080" cy="36576"/>
          </a:xfrm>
          <a:prstGeom prst="roundedRectangle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28" name="Shape 26"/>
          <p:cNvSpPr/>
          <p:nvPr/>
        </p:nvSpPr>
        <p:spPr>
          <a:xfrm>
            <a:off x="6263640" y="1325880"/>
            <a:ext cx="2286000" cy="731520"/>
          </a:xfrm>
          <a:prstGeom prst="roundedRectangle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안녕하세요, 홍길동님!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16642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F6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진행중인 체크 2건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291072" y="2194560"/>
            <a:ext cx="707136" cy="548640"/>
          </a:xfrm>
          <a:prstGeom prst="roundedRectangle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468880"/>
            <a:ext cx="707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체크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034784" y="2194560"/>
            <a:ext cx="707136" cy="548640"/>
          </a:xfrm>
          <a:prstGeom prst="roundedRectangle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34784" y="2468880"/>
            <a:ext cx="707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요청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7778496" y="2194560"/>
            <a:ext cx="707136" cy="548640"/>
          </a:xfrm>
          <a:prstGeom prst="roundedRectangle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8496" y="2468880"/>
            <a:ext cx="707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309360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현황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91072" y="3108960"/>
            <a:ext cx="707136" cy="457200"/>
          </a:xfrm>
          <a:prstGeom prst="roundedRectangle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154680"/>
            <a:ext cx="707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034784" y="3108960"/>
            <a:ext cx="707136" cy="457200"/>
          </a:xfrm>
          <a:prstGeom prst="roundedRectangle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34784" y="3154680"/>
            <a:ext cx="707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78496" y="3108960"/>
            <a:ext cx="707136" cy="457200"/>
          </a:xfrm>
          <a:prstGeom prst="roundedRectangle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8496" y="3154680"/>
            <a:ext cx="707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63640" y="3703320"/>
            <a:ext cx="2286000" cy="822960"/>
          </a:xfrm>
          <a:prstGeom prst="roundedRectangle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27648" y="3767328"/>
            <a:ext cx="457200" cy="182880"/>
          </a:xfrm>
          <a:prstGeom prst="roundedRectangle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46" name="Text 44"/>
          <p:cNvSpPr/>
          <p:nvPr/>
        </p:nvSpPr>
        <p:spPr>
          <a:xfrm>
            <a:off x="6327648" y="37673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327648" y="39959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배관 누수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27648" y="416052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역삼동 | 2시간 전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6217920" y="5440680"/>
            <a:ext cx="23774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217920" y="5440680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5532120"/>
            <a:ext cx="201168" cy="201168"/>
          </a:xfrm>
          <a:prstGeom prst="rect">
            <a:avLst/>
          </a:prstGeom>
        </p:spPr>
      </p:pic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5532120"/>
            <a:ext cx="201168" cy="201168"/>
          </a:xfrm>
          <a:prstGeom prst="rect">
            <a:avLst/>
          </a:prstGeom>
        </p:spPr>
      </p:pic>
      <p:sp>
        <p:nvSpPr>
          <p:cNvPr id="53" name="Shape 49"/>
          <p:cNvSpPr/>
          <p:nvPr/>
        </p:nvSpPr>
        <p:spPr>
          <a:xfrm>
            <a:off x="7242048" y="5513832"/>
            <a:ext cx="329184" cy="329184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5532120"/>
            <a:ext cx="201168" cy="201168"/>
          </a:xfrm>
          <a:prstGeom prst="rect">
            <a:avLst/>
          </a:prstGeom>
        </p:spPr>
      </p:pic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5532120"/>
            <a:ext cx="201168" cy="201168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3200400" y="2743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당근마켓 스타일 대시보드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인사 카드 (gradient)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3열 빠른 액션 그리드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통계 카드 (큰 숫자)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리스트 아이템 (뱃지+제목+주소)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하단 탭 네비 (5탭, 가운데 강조)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앱: 체크 위자드 &amp; 요청 상세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5029200"/>
          </a:xfrm>
          <a:prstGeom prst="roundedRectangle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2468880" cy="2011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69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417320" y="5870448"/>
            <a:ext cx="640080" cy="36576"/>
          </a:xfrm>
          <a:prstGeom prst="roundedRectangle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371600"/>
            <a:ext cx="2286000" cy="91440"/>
          </a:xfrm>
          <a:prstGeom prst="roundedRectangle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371600"/>
            <a:ext cx="982980" cy="91440"/>
          </a:xfrm>
          <a:prstGeom prst="roundedRectangle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/ 7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유형의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누수인가요?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" y="2560320"/>
            <a:ext cx="2231136" cy="411480"/>
          </a:xfrm>
          <a:prstGeom prst="roundedRectangle">
            <a:avLst>
              <a:gd name="adj" fmla="val 17778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633472"/>
            <a:ext cx="256032" cy="256032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70048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배관 누수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1792" y="3063240"/>
            <a:ext cx="2231136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3232" y="3136392"/>
            <a:ext cx="256032" cy="256032"/>
          </a:xfrm>
          <a:prstGeom prst="oval">
            <a:avLst/>
          </a:prstGeom>
          <a:solidFill>
            <a:srgbClr val="F3F4F6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천장 누수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1792" y="3566160"/>
            <a:ext cx="2231136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3639312"/>
            <a:ext cx="256032" cy="256032"/>
          </a:xfrm>
          <a:prstGeom prst="oval">
            <a:avLst/>
          </a:prstGeom>
          <a:solidFill>
            <a:srgbClr val="F3F4F6"/>
          </a:solidFill>
          <a:ln/>
        </p:spPr>
      </p:sp>
      <p:sp>
        <p:nvSpPr>
          <p:cNvPr id="21" name="Text 18"/>
          <p:cNvSpPr/>
          <p:nvPr/>
        </p:nvSpPr>
        <p:spPr>
          <a:xfrm>
            <a:off x="105156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바닥 누수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21792" y="4069080"/>
            <a:ext cx="2231136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" y="4142232"/>
            <a:ext cx="256032" cy="256032"/>
          </a:xfrm>
          <a:prstGeom prst="oval">
            <a:avLst/>
          </a:prstGeom>
          <a:solidFill>
            <a:srgbClr val="F3F4F6"/>
          </a:solidFill>
          <a:ln/>
        </p:spPr>
      </p:sp>
      <p:sp>
        <p:nvSpPr>
          <p:cNvPr id="24" name="Text 21"/>
          <p:cNvSpPr/>
          <p:nvPr/>
        </p:nvSpPr>
        <p:spPr>
          <a:xfrm>
            <a:off x="105156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 누수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1792" y="5394960"/>
            <a:ext cx="1078992" cy="365760"/>
          </a:xfrm>
          <a:prstGeom prst="roundedRectangle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" y="539496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773936" y="5394960"/>
            <a:ext cx="1078992" cy="365760"/>
          </a:xfrm>
          <a:prstGeom prst="roundedRectangle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773936" y="539496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200400" y="1188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토스 스타일 위자드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프로그레스 바 (gradient)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큰 질문 text-[22px]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선택 카드 (라디오 패턴)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선택 시 border-primary-500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하단 고정 이전/다음 버튼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126480" y="1005840"/>
            <a:ext cx="2560320" cy="5029200"/>
          </a:xfrm>
          <a:prstGeom prst="roundedRectangle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172200" y="1051560"/>
            <a:ext cx="2468880" cy="2011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1069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7086600" y="5870448"/>
            <a:ext cx="640080" cy="36576"/>
          </a:xfrm>
          <a:prstGeom prst="roundedRectangle">
            <a:avLst>
              <a:gd name="adj" fmla="val 50000"/>
            </a:avLst>
          </a:prstGeom>
          <a:solidFill>
            <a:srgbClr val="D1D5DB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182880" cy="1828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492240" y="1325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상세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327648" y="1737360"/>
            <a:ext cx="182880" cy="18288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37" name="Text 33"/>
          <p:cNvSpPr/>
          <p:nvPr/>
        </p:nvSpPr>
        <p:spPr>
          <a:xfrm>
            <a:off x="6327648" y="172821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6236208" y="194767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</a:t>
            </a:r>
            <a:endParaRPr lang="en-US" sz="550" dirty="0"/>
          </a:p>
        </p:txBody>
      </p:sp>
      <p:sp>
        <p:nvSpPr>
          <p:cNvPr id="39" name="Shape 35"/>
          <p:cNvSpPr/>
          <p:nvPr/>
        </p:nvSpPr>
        <p:spPr>
          <a:xfrm>
            <a:off x="6510528" y="1828800"/>
            <a:ext cx="35661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867144" y="1737360"/>
            <a:ext cx="182880" cy="18288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41" name="Text 37"/>
          <p:cNvSpPr/>
          <p:nvPr/>
        </p:nvSpPr>
        <p:spPr>
          <a:xfrm>
            <a:off x="6867144" y="172821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6775704" y="194767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</a:t>
            </a:r>
            <a:endParaRPr lang="en-US" sz="550" dirty="0"/>
          </a:p>
        </p:txBody>
      </p:sp>
      <p:sp>
        <p:nvSpPr>
          <p:cNvPr id="43" name="Shape 39"/>
          <p:cNvSpPr/>
          <p:nvPr/>
        </p:nvSpPr>
        <p:spPr>
          <a:xfrm>
            <a:off x="7050024" y="1828800"/>
            <a:ext cx="3566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406640" y="1737360"/>
            <a:ext cx="182880" cy="182880"/>
          </a:xfrm>
          <a:prstGeom prst="oval">
            <a:avLst/>
          </a:prstGeom>
          <a:solidFill>
            <a:srgbClr val="CCFBF1"/>
          </a:solidFill>
          <a:ln/>
        </p:spPr>
      </p:sp>
      <p:sp>
        <p:nvSpPr>
          <p:cNvPr id="45" name="Text 41"/>
          <p:cNvSpPr/>
          <p:nvPr/>
        </p:nvSpPr>
        <p:spPr>
          <a:xfrm>
            <a:off x="7315200" y="194767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</a:t>
            </a:r>
            <a:endParaRPr lang="en-US" sz="550" dirty="0"/>
          </a:p>
        </p:txBody>
      </p:sp>
      <p:sp>
        <p:nvSpPr>
          <p:cNvPr id="46" name="Shape 42"/>
          <p:cNvSpPr/>
          <p:nvPr/>
        </p:nvSpPr>
        <p:spPr>
          <a:xfrm>
            <a:off x="7589520" y="1828800"/>
            <a:ext cx="3566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946136" y="1737360"/>
            <a:ext cx="182880" cy="182880"/>
          </a:xfrm>
          <a:prstGeom prst="oval">
            <a:avLst/>
          </a:prstGeom>
          <a:solidFill>
            <a:srgbClr val="E5E7EB"/>
          </a:solidFill>
          <a:ln/>
        </p:spPr>
      </p:sp>
      <p:sp>
        <p:nvSpPr>
          <p:cNvPr id="48" name="Text 44"/>
          <p:cNvSpPr/>
          <p:nvPr/>
        </p:nvSpPr>
        <p:spPr>
          <a:xfrm>
            <a:off x="7854696" y="194767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시공</a:t>
            </a:r>
            <a:endParaRPr lang="en-US" sz="550" dirty="0"/>
          </a:p>
        </p:txBody>
      </p:sp>
      <p:sp>
        <p:nvSpPr>
          <p:cNvPr id="49" name="Shape 45"/>
          <p:cNvSpPr/>
          <p:nvPr/>
        </p:nvSpPr>
        <p:spPr>
          <a:xfrm>
            <a:off x="8129016" y="1828800"/>
            <a:ext cx="35661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485632" y="1737360"/>
            <a:ext cx="182880" cy="182880"/>
          </a:xfrm>
          <a:prstGeom prst="oval">
            <a:avLst/>
          </a:prstGeom>
          <a:solidFill>
            <a:srgbClr val="E5E7EB"/>
          </a:solidFill>
          <a:ln/>
        </p:spPr>
      </p:sp>
      <p:sp>
        <p:nvSpPr>
          <p:cNvPr id="51" name="Text 47"/>
          <p:cNvSpPr/>
          <p:nvPr/>
        </p:nvSpPr>
        <p:spPr>
          <a:xfrm>
            <a:off x="8394192" y="194767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550" dirty="0"/>
          </a:p>
        </p:txBody>
      </p:sp>
      <p:sp>
        <p:nvSpPr>
          <p:cNvPr id="52" name="Shape 48"/>
          <p:cNvSpPr/>
          <p:nvPr/>
        </p:nvSpPr>
        <p:spPr>
          <a:xfrm>
            <a:off x="6263640" y="2194560"/>
            <a:ext cx="2286000" cy="914400"/>
          </a:xfrm>
          <a:prstGeom prst="roundedRectangle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355080" y="2240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정보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635508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유형: 배관 누수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긴급도: 보통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위치: 욕실</a:t>
            </a:r>
            <a:endParaRPr lang="en-US" sz="700" dirty="0"/>
          </a:p>
        </p:txBody>
      </p:sp>
      <p:sp>
        <p:nvSpPr>
          <p:cNvPr id="55" name="Shape 51"/>
          <p:cNvSpPr/>
          <p:nvPr/>
        </p:nvSpPr>
        <p:spPr>
          <a:xfrm>
            <a:off x="6263640" y="3200400"/>
            <a:ext cx="2286000" cy="731520"/>
          </a:xfrm>
          <a:prstGeom prst="roundedRectangle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355080" y="3246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</a:t>
            </a:r>
            <a:endParaRPr lang="en-US" sz="750" dirty="0"/>
          </a:p>
        </p:txBody>
      </p:sp>
      <p:sp>
        <p:nvSpPr>
          <p:cNvPr id="57" name="Text 53"/>
          <p:cNvSpPr/>
          <p:nvPr/>
        </p:nvSpPr>
        <p:spPr>
          <a:xfrm>
            <a:off x="635508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350,000원</a:t>
            </a:r>
            <a:endParaRPr lang="en-US" sz="1200" dirty="0"/>
          </a:p>
        </p:txBody>
      </p:sp>
      <p:sp>
        <p:nvSpPr>
          <p:cNvPr id="58" name="Shape 54"/>
          <p:cNvSpPr/>
          <p:nvPr/>
        </p:nvSpPr>
        <p:spPr>
          <a:xfrm>
            <a:off x="6263640" y="5394960"/>
            <a:ext cx="1106424" cy="365760"/>
          </a:xfrm>
          <a:prstGeom prst="roundedRectangle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263640" y="5394960"/>
            <a:ext cx="1106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거절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7443216" y="5394960"/>
            <a:ext cx="1106424" cy="365760"/>
          </a:xfrm>
          <a:prstGeom prst="roundedRectangle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61" name="Text 57"/>
          <p:cNvSpPr/>
          <p:nvPr/>
        </p:nvSpPr>
        <p:spPr>
          <a:xfrm>
            <a:off x="7443216" y="5394960"/>
            <a:ext cx="1106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수락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3200400" y="3657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요청 상세 페이지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5단계 도트 프로그레스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정보 카드 나열 패턴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견적 금액 큰 숫자 강조
</a:t>
            </a:r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• 수락/거절 버튼 쌍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인터랙션 &amp; 애니메이션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전환은 200-300ms ease-out으로 통일합니다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트랜지션 기본 규칙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84048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642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인터랙티브 요소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664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transition-all duration-200 ease-out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84048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756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색상만 변경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075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transition-colors duration-200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84048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871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이동/크기 변경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4871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transition-transform duration-200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384048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98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애니메이션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2898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duration-300 ease-out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84048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10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퇴장 애니메이션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3310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duration-200 ease-in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키프레임 애니메이션 카탈로그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645920"/>
            <a:ext cx="3840480" cy="502920"/>
          </a:xfrm>
          <a:prstGeom prst="roundedRectangle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64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16642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92040" y="18653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opacity 0→1 + translateY(8px)→0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92040" y="201168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카드, 리스트 아이템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54880" y="2212848"/>
            <a:ext cx="3840480" cy="502920"/>
          </a:xfrm>
          <a:prstGeom prst="roundedRectangle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slideUp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2231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92040" y="24323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translateY(20px)→0 + opacity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92040" y="257860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토스트 알림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754880" y="2779776"/>
            <a:ext cx="3840480" cy="502920"/>
          </a:xfrm>
          <a:prstGeom prst="roundedRectangle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7980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27980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92040" y="29992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scale(0.95)→1 + opacity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92040" y="3145536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모달, 바텀시트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754880" y="3346704"/>
            <a:ext cx="3840480" cy="502920"/>
          </a:xfrm>
          <a:prstGeom prst="roundedRectangle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shimmer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33649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1.5s loop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92040" y="35661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위치 -200%→200%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92040" y="3712464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스켈레톤 로딩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754880" y="3913632"/>
            <a:ext cx="3840480" cy="502920"/>
          </a:xfrm>
          <a:prstGeom prst="roundedRectangle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931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pulseDot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3931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 loop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92040" y="41330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opacity 1→0.5→1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92040" y="4279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뱃지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486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컴포넌트별 호버 효과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4206240"/>
            <a:ext cx="411480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206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37360" y="4206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shadow-lg + border-primary-200 + -translate-y-0.5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46320" y="4206240"/>
            <a:ext cx="411480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206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(Primary)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035040" y="4206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bg-primary-700 + shadow-md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8640" y="4617720"/>
            <a:ext cx="411480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617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(Active)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737360" y="4617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bg-primary-800 + scale(0.98)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846320" y="4617720"/>
            <a:ext cx="411480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617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리스트 아이템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035040" y="4617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카드와 동일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48640" y="5029200"/>
            <a:ext cx="411480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5029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뒤로가기 화살표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737360" y="5029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-translate-x-0.5 (group-hover)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46320" y="5029200"/>
            <a:ext cx="411480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5029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네비 탭 (데스크톱)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035040" y="5029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밑줄 scale-x-0→100 transition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4864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토스트 &amp; 로딩 패턴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48640" y="5852160"/>
            <a:ext cx="2743200" cy="457200"/>
          </a:xfrm>
          <a:prstGeom prst="roundedRectangle">
            <a:avLst>
              <a:gd name="adj" fmla="val 30000"/>
            </a:avLst>
          </a:prstGeom>
          <a:solidFill>
            <a:srgbClr val="111827"/>
          </a:solidFill>
          <a:ln/>
        </p:spPr>
      </p:sp>
      <p:pic>
        <p:nvPicPr>
          <p:cNvPr id="6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25312"/>
            <a:ext cx="182880" cy="182880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1005840" y="5870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저장되었습니다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2880360" y="587044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754880" y="5852160"/>
            <a:ext cx="3840480" cy="457200"/>
          </a:xfrm>
          <a:prstGeom prst="roundedRectangle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892040" y="5925312"/>
            <a:ext cx="731520" cy="128016"/>
          </a:xfrm>
          <a:prstGeom prst="roundedRectangle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73" name="Shape 70"/>
          <p:cNvSpPr/>
          <p:nvPr/>
        </p:nvSpPr>
        <p:spPr>
          <a:xfrm>
            <a:off x="4892040" y="6089904"/>
            <a:ext cx="2286000" cy="91440"/>
          </a:xfrm>
          <a:prstGeom prst="roundedRectangle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74" name="Shape 71"/>
          <p:cNvSpPr/>
          <p:nvPr/>
        </p:nvSpPr>
        <p:spPr>
          <a:xfrm>
            <a:off x="7772400" y="5925312"/>
            <a:ext cx="548640" cy="292608"/>
          </a:xfrm>
          <a:prstGeom prst="roundedRectangle">
            <a:avLst>
              <a:gd name="adj" fmla="val 18750"/>
            </a:avLst>
          </a:prstGeom>
          <a:solidFill>
            <a:srgbClr val="F3F4F6"/>
          </a:solidFill>
          <a:ln/>
        </p:spPr>
      </p:sp>
      <p:sp>
        <p:nvSpPr>
          <p:cNvPr id="75" name="Text 72"/>
          <p:cNvSpPr/>
          <p:nvPr/>
        </p:nvSpPr>
        <p:spPr>
          <a:xfrm>
            <a:off x="4754880" y="6355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shimmer 1.5s infinite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&amp; 빈 상태 처리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페이지는 정상/빈/에러/로딩 4가지 상태를 구현해야 합니다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시나리오별 UI 패턴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114800" cy="365760"/>
          </a:xfrm>
          <a:prstGeom prst="roundedRectangle">
            <a:avLst>
              <a:gd name="adj" fmla="val 15000"/>
            </a:avLst>
          </a:pr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91640"/>
            <a:ext cx="256032" cy="256032"/>
          </a:xfrm>
          <a:prstGeom prst="oval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64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오류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6642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화면 에러 + 재시도 버튼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4114800" cy="365760"/>
          </a:xfrm>
          <a:prstGeom prst="roundedRectangle">
            <a:avLst>
              <a:gd name="adj" fmla="val 15000"/>
            </a:avLst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2130552"/>
            <a:ext cx="256032" cy="256032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폼 유효성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에러 (필드 아래 빨간 텍스트)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523744"/>
            <a:ext cx="4114800" cy="365760"/>
          </a:xfrm>
          <a:prstGeom prst="roundedRectangle">
            <a:avLst>
              <a:gd name="adj" fmla="val 15000"/>
            </a:avLst>
          </a:pr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2569464"/>
            <a:ext cx="256032" cy="256032"/>
          </a:xfrm>
          <a:prstGeom prst="oval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5420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일러스트 + "페이지를 찾을 수 없어요"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962656"/>
            <a:ext cx="4114800" cy="365760"/>
          </a:xfrm>
          <a:prstGeom prst="roundedRectangle">
            <a:avLst>
              <a:gd name="adj" fmla="val 15000"/>
            </a:avLst>
          </a:pr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08376"/>
            <a:ext cx="256032" cy="256032"/>
          </a:xfrm>
          <a:prstGeom prst="oval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980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980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일러스트 + "잠시 문제가 생겼어요" + 재시도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401568"/>
            <a:ext cx="4114800" cy="365760"/>
          </a:xfrm>
          <a:prstGeom prst="roundedRectangle">
            <a:avLst>
              <a:gd name="adj" fmla="val 15000"/>
            </a:avLst>
          </a:pr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3447288"/>
            <a:ext cx="256032" cy="256032"/>
          </a:xfrm>
          <a:prstGeom prst="oval">
            <a:avLst/>
          </a:prstGeom>
          <a:solidFill>
            <a:srgbClr val="A16207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419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없음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3419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자물쇠 아이콘 + "접근 권한이 없어요"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0" y="1188720"/>
            <a:ext cx="2286000" cy="3840480"/>
          </a:xfrm>
          <a:prstGeom prst="roundedRectangle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74920" y="1234440"/>
            <a:ext cx="2194560" cy="2011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12527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852160" y="4864608"/>
            <a:ext cx="640080" cy="36576"/>
          </a:xfrm>
          <a:prstGeom prst="roundedRectangle">
            <a:avLst>
              <a:gd name="adj" fmla="val 50000"/>
            </a:avLst>
          </a:prstGeom>
          <a:solidFill>
            <a:srgbClr val="D1D5DB"/>
          </a:solidFill>
          <a:ln/>
        </p:spPr>
      </p:sp>
      <p:sp>
        <p:nvSpPr>
          <p:cNvPr id="30" name="Shape 28"/>
          <p:cNvSpPr/>
          <p:nvPr/>
        </p:nvSpPr>
        <p:spPr>
          <a:xfrm>
            <a:off x="5120640" y="1463040"/>
            <a:ext cx="2103120" cy="33832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5852160" y="1828800"/>
            <a:ext cx="640080" cy="640080"/>
          </a:xfrm>
          <a:prstGeom prst="oval">
            <a:avLst/>
          </a:prstGeom>
          <a:solidFill>
            <a:srgbClr val="E5E7EB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1975104"/>
            <a:ext cx="329184" cy="32918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120640" y="2606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체크 내역이 없어요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12064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누수가 의심되면 바로 체크해보세요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486400" y="3200400"/>
            <a:ext cx="1371600" cy="320040"/>
          </a:xfrm>
          <a:prstGeom prst="roundedRectangle">
            <a:avLst>
              <a:gd name="adj" fmla="val 28571"/>
            </a:avLst>
          </a:prstGeom>
          <a:solidFill>
            <a:srgbClr val="0D9488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체크 시작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4632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상태 (Empty State)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border-dashed + CTA 버튼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8640" y="4114800"/>
            <a:ext cx="4114800" cy="2011680"/>
          </a:xfrm>
          <a:prstGeom prst="roundedRectangle">
            <a:avLst>
              <a:gd name="adj" fmla="val 4545"/>
            </a:avLst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상태 체크리스트</a:t>
            </a:r>
            <a:endParaRPr lang="en-US" sz="120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17720"/>
            <a:ext cx="182880" cy="18288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1097280" y="45994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상태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2286000" y="4599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있을 때의 일반 UI</a:t>
            </a:r>
            <a:endParaRPr lang="en-US" sz="8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83480"/>
            <a:ext cx="182880" cy="18288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1097280" y="49651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상태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2286000" y="4965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dashed border + 일러스트 + CTA</a:t>
            </a:r>
            <a:endParaRPr lang="en-US" sz="850" dirty="0"/>
          </a:p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49240"/>
            <a:ext cx="182880" cy="18288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1097280" y="5330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상태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2286000" y="5330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카드 또는 전체 화면 에러</a:t>
            </a:r>
            <a:endParaRPr lang="en-US" sz="85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715000"/>
            <a:ext cx="182880" cy="18288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1097280" y="56967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로딩 상태</a:t>
            </a:r>
            <a:endParaRPr lang="en-US" sz="950" dirty="0"/>
          </a:p>
        </p:txBody>
      </p:sp>
      <p:sp>
        <p:nvSpPr>
          <p:cNvPr id="51" name="Text 44"/>
          <p:cNvSpPr/>
          <p:nvPr/>
        </p:nvSpPr>
        <p:spPr>
          <a:xfrm>
            <a:off x="2286000" y="5696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스켈레톤 (animate-pulse / shimmer)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&amp; 유저 플로우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필수 규칙 (WCAG AA)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347472"/>
          </a:xfrm>
          <a:prstGeom prst="roundedRectangle">
            <a:avLst>
              <a:gd name="adj" fmla="val 15789"/>
            </a:avLst>
          </a:prstGeom>
          <a:solidFill>
            <a:srgbClr val="F9FAF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356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대비 4.5:1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4356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텍스트 기준, 큰 텍스트는 3:1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93192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47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 영역 44px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버튼/링크 최소 터치 영역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931920" cy="347472"/>
          </a:xfrm>
          <a:prstGeom prst="roundedRectangle">
            <a:avLst>
              <a:gd name="adj" fmla="val 15789"/>
            </a:avLst>
          </a:prstGeom>
          <a:solidFill>
            <a:srgbClr val="F9FAF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585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포커스 링 표시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2258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:focus-visible 2px primary 아웃라인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393192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0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키보드 네비게이션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6700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Tab으로 모든 인터랙티브 요소 접근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931920" cy="347472"/>
          </a:xfrm>
          <a:prstGeom prst="roundedRectangle">
            <a:avLst>
              <a:gd name="adj" fmla="val 15789"/>
            </a:avLst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815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스크린 리더 대응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081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alt, aria-label, role 속성 제공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3931920" cy="347472"/>
          </a:xfrm>
          <a:prstGeom prst="roundedRectangle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93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aria-live 영역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34930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상태 변경 알림 (polite)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유저 플로우: 누수 체크 접수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1920240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랜딩페이지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146304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1463040"/>
            <a:ext cx="1920240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로그인/회원가입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1783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057400"/>
            <a:ext cx="1920240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057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대시보드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205740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2057400"/>
            <a:ext cx="1920240" cy="411480"/>
          </a:xfrm>
          <a:prstGeom prst="roundedRectangle">
            <a:avLst>
              <a:gd name="adj" fmla="val 17778"/>
            </a:avLst>
          </a:prstGeom>
          <a:solidFill>
            <a:srgbClr val="CCFBF1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057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위자드 (7단계)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2377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651760"/>
            <a:ext cx="1920240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접수 완료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26517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0" y="2651760"/>
            <a:ext cx="1920240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요청 상세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71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246120"/>
            <a:ext cx="1920240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견적 확인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75120" y="32461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0" y="3246120"/>
            <a:ext cx="1920240" cy="411480"/>
          </a:xfrm>
          <a:prstGeom prst="roundedRectangle">
            <a:avLst>
              <a:gd name="adj" fmla="val 177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결제/수락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포커스 스타일 예시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4434840"/>
            <a:ext cx="1828800" cy="457200"/>
          </a:xfrm>
          <a:prstGeom prst="roundedRectangle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버튼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23744" y="4379976"/>
            <a:ext cx="1938528" cy="566928"/>
          </a:xfrm>
          <a:prstGeom prst="roundedRectangle">
            <a:avLst>
              <a:gd name="adj" fmla="val 24194"/>
            </a:avLst>
          </a:prstGeom>
          <a:solidFill>
            <a:srgbClr val="CCFBF1">
              <a:alpha val="5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0320" y="4434840"/>
            <a:ext cx="1828800" cy="457200"/>
          </a:xfrm>
          <a:prstGeom prst="roundedRectangle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256032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포커스 상태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4983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:focus-visible → 2px outline + ring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4864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aria 패턴 예시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48640" y="5669280"/>
            <a:ext cx="4114800" cy="320040"/>
          </a:xfrm>
          <a:prstGeom prst="roundedRectangle">
            <a:avLst>
              <a:gd name="adj" fmla="val 17143"/>
            </a:avLst>
          </a:prstGeom>
          <a:solidFill>
            <a:srgbClr val="F9FAFB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5669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aria-busy="true"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91840" y="5669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로딩 버튼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46320" y="5669280"/>
            <a:ext cx="4114800" cy="320040"/>
          </a:xfrm>
          <a:prstGeom prst="roundedRectangle">
            <a:avLst>
              <a:gd name="adj" fmla="val 17143"/>
            </a:avLst>
          </a:prstGeom>
          <a:solidFill>
            <a:srgbClr val="F9FAFB"/>
          </a:solidFill>
          <a:ln/>
        </p:spPr>
      </p:sp>
      <p:sp>
        <p:nvSpPr>
          <p:cNvPr id="59" name="Text 57"/>
          <p:cNvSpPr/>
          <p:nvPr/>
        </p:nvSpPr>
        <p:spPr>
          <a:xfrm>
            <a:off x="4937760" y="5669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aria-label="알림 3개"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589520" y="5669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 버튼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" y="6053328"/>
            <a:ext cx="4114800" cy="320040"/>
          </a:xfrm>
          <a:prstGeom prst="roundedRectangle">
            <a:avLst>
              <a:gd name="adj" fmla="val 17143"/>
            </a:avLst>
          </a:prstGeom>
          <a:solidFill>
            <a:srgbClr val="F9FAFB"/>
          </a:solidFill>
          <a:ln/>
        </p:spPr>
      </p:sp>
      <p:sp>
        <p:nvSpPr>
          <p:cNvPr id="62" name="Text 60"/>
          <p:cNvSpPr/>
          <p:nvPr/>
        </p:nvSpPr>
        <p:spPr>
          <a:xfrm>
            <a:off x="640080" y="6053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role="dialog" aria-modal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291840" y="60533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모달/바텀시트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46320" y="6053328"/>
            <a:ext cx="4114800" cy="320040"/>
          </a:xfrm>
          <a:prstGeom prst="roundedRectangle">
            <a:avLst>
              <a:gd name="adj" fmla="val 17143"/>
            </a:avLst>
          </a:prstGeom>
          <a:solidFill>
            <a:srgbClr val="F9FAFB"/>
          </a:solidFill>
          <a:ln/>
        </p:spPr>
      </p:sp>
      <p:sp>
        <p:nvSpPr>
          <p:cNvPr id="65" name="Text 63"/>
          <p:cNvSpPr/>
          <p:nvPr/>
        </p:nvSpPr>
        <p:spPr>
          <a:xfrm>
            <a:off x="4937760" y="6053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role="status" aria-live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589520" y="60533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변경 알림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전문가/관리자 앱 &amp; 개발 체크리스트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전문가(마스터) 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2011680"/>
          </a:xfrm>
          <a:prstGeom prst="roundedRectangle">
            <a:avLst>
              <a:gd name="adj" fmla="val 4545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7280" cy="1828800"/>
          </a:xfrm>
          <a:prstGeom prst="roundedRectangle">
            <a:avLst>
              <a:gd name="adj" fmla="val 5000"/>
            </a:avLst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누수체크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F293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713232" y="2039112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11827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39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 오더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713232" y="2295144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11827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951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요청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713232" y="2551176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11827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511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13232" y="2807208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11827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807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874520" y="1463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대시보드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74520" y="1737360"/>
            <a:ext cx="548640" cy="411480"/>
          </a:xfrm>
          <a:prstGeom prst="roundedRectangle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17556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193852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2468880" y="1737360"/>
            <a:ext cx="548640" cy="411480"/>
          </a:xfrm>
          <a:prstGeom prst="roundedRectangle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17556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193852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3063240" y="1737360"/>
            <a:ext cx="548640" cy="411480"/>
          </a:xfrm>
          <a:prstGeom prst="roundedRectangle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17556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63240" y="193852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3657600" y="1737360"/>
            <a:ext cx="548640" cy="411480"/>
          </a:xfrm>
          <a:prstGeom prst="roundedRectangle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7556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193852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1874520" y="2240280"/>
            <a:ext cx="2468880" cy="960120"/>
          </a:xfrm>
          <a:prstGeom prst="roundedRectangle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74520" y="22402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매출 차트 (Chart.js)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5488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앱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1325880"/>
            <a:ext cx="3931920" cy="2011680"/>
          </a:xfrm>
          <a:prstGeom prst="roundedRectangle">
            <a:avLst>
              <a:gd name="adj" fmla="val 4545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417320"/>
            <a:ext cx="1097280" cy="1828800"/>
          </a:xfrm>
          <a:prstGeom prst="roundedRectangle">
            <a:avLst>
              <a:gd name="adj" fmla="val 5000"/>
            </a:avLst>
          </a:prstGeom>
          <a:solidFill>
            <a:srgbClr val="134E4A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1508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19472" y="1783080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15E59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919472" y="2039112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34E4A">
              <a:alpha val="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2039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관리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919472" y="2295144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34E4A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22951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마스터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919472" y="2551176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34E4A">
              <a:alpha val="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25511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919472" y="2807208"/>
            <a:ext cx="950976" cy="201168"/>
          </a:xfrm>
          <a:prstGeom prst="roundedRectangle">
            <a:avLst>
              <a:gd name="adj" fmla="val 18182"/>
            </a:avLst>
          </a:prstGeom>
          <a:solidFill>
            <a:srgbClr val="134E4A">
              <a:alpha val="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2807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F6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080760" y="1463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대시보드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80760" y="1737360"/>
            <a:ext cx="548640" cy="411480"/>
          </a:xfrm>
          <a:prstGeom prst="roundedRectangle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193852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체크수</a:t>
            </a:r>
            <a:endParaRPr lang="en-US" sz="450" dirty="0"/>
          </a:p>
        </p:txBody>
      </p:sp>
      <p:sp>
        <p:nvSpPr>
          <p:cNvPr id="50" name="Shape 48"/>
          <p:cNvSpPr/>
          <p:nvPr/>
        </p:nvSpPr>
        <p:spPr>
          <a:xfrm>
            <a:off x="6675120" y="1737360"/>
            <a:ext cx="548640" cy="411480"/>
          </a:xfrm>
          <a:prstGeom prst="roundedRectangle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193852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마스터</a:t>
            </a:r>
            <a:endParaRPr lang="en-US" sz="450" dirty="0"/>
          </a:p>
        </p:txBody>
      </p:sp>
      <p:sp>
        <p:nvSpPr>
          <p:cNvPr id="52" name="Shape 50"/>
          <p:cNvSpPr/>
          <p:nvPr/>
        </p:nvSpPr>
        <p:spPr>
          <a:xfrm>
            <a:off x="7269480" y="1737360"/>
            <a:ext cx="548640" cy="411480"/>
          </a:xfrm>
          <a:prstGeom prst="roundedRectangle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193852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매출</a:t>
            </a:r>
            <a:endParaRPr lang="en-US" sz="450" dirty="0"/>
          </a:p>
        </p:txBody>
      </p:sp>
      <p:sp>
        <p:nvSpPr>
          <p:cNvPr id="54" name="Shape 52"/>
          <p:cNvSpPr/>
          <p:nvPr/>
        </p:nvSpPr>
        <p:spPr>
          <a:xfrm>
            <a:off x="7863840" y="1737360"/>
            <a:ext cx="548640" cy="411480"/>
          </a:xfrm>
          <a:prstGeom prst="roundedRectangle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0" y="193852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만족도</a:t>
            </a:r>
            <a:endParaRPr lang="en-US" sz="450" dirty="0"/>
          </a:p>
        </p:txBody>
      </p:sp>
      <p:sp>
        <p:nvSpPr>
          <p:cNvPr id="56" name="Text 54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시 체크리스트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48640" y="4114800"/>
            <a:ext cx="2651760" cy="1188720"/>
          </a:xfrm>
          <a:prstGeom prst="roundedRectangle">
            <a:avLst>
              <a:gd name="adj" fmla="val 6154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8368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58368" y="4462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min-h-screen bg-gray-50 pb-20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58368" y="4700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max-w-4xl mx-auto px-4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58368" y="4937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하단/상단 네비 렌더링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383280" y="4114800"/>
            <a:ext cx="2651760" cy="1188720"/>
          </a:xfrm>
          <a:prstGeom prst="roundedRectangle">
            <a:avLst>
              <a:gd name="adj" fmla="val 6154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93008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493008" y="4462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rounded-2xl border-2 border-gray-100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493008" y="4700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Primary 색상 체계만 사용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493008" y="4937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8px 그리드 간격 준수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217920" y="4114800"/>
            <a:ext cx="2651760" cy="1188720"/>
          </a:xfrm>
          <a:prstGeom prst="roundedRectangle">
            <a:avLst>
              <a:gd name="adj" fmla="val 6154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27648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인터랙션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327648" y="4462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transition-all duration-200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327648" y="4700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버튼 5가지 상태 구현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27648" y="4937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입력필드 6가지 상태 구현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48640" y="5440680"/>
            <a:ext cx="2651760" cy="1188720"/>
          </a:xfrm>
          <a:prstGeom prst="roundedRectangle">
            <a:avLst>
              <a:gd name="adj" fmla="val 6154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8368" y="5513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상태처리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58368" y="5788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빈 상태 (empty state)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58368" y="6025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로딩 (skeleton/shimmer)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58368" y="6263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에러 상태 (인라인/전체)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5440680"/>
            <a:ext cx="2651760" cy="1188720"/>
          </a:xfrm>
          <a:prstGeom prst="roundedRectangle">
            <a:avLst>
              <a:gd name="adj" fmla="val 6154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93008" y="5513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93008" y="5788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:focus-visible 스타일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493008" y="6025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터치 영역 44px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493008" y="6263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aria-label/alt 텍스트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217920" y="5440680"/>
            <a:ext cx="2651760" cy="1188720"/>
          </a:xfrm>
          <a:prstGeom prst="roundedRectangle">
            <a:avLst>
              <a:gd name="adj" fmla="val 6154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27648" y="5513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문화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327648" y="57881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모든 텍스트 한국어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327648" y="6025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"신고"→"체크" 용어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327648" y="6263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☑ 한국인/아시아인 이미지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맵 &amp; 우선순위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 → P1 → P2 순서로 구현합니다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651760" cy="5029200"/>
          </a:xfrm>
          <a:prstGeom prst="roundedRectangle">
            <a:avLst>
              <a:gd name="adj" fmla="val 413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2651760" cy="502920"/>
          </a:xfrm>
          <a:prstGeom prst="roundedRectangle">
            <a:avLst>
              <a:gd name="adj" fmla="val 21818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265176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P0 - 핵심 플로우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192024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20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랜딩 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242316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99F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23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대시보드 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" y="292608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26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접수 위자드 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342900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29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로그인/회원가입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393192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상세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443484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34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상세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페이지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1234440"/>
            <a:ext cx="2651760" cy="5029200"/>
          </a:xfrm>
          <a:prstGeom prst="roundedRectangle">
            <a:avLst>
              <a:gd name="adj" fmla="val 413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234440"/>
            <a:ext cx="2651760" cy="502920"/>
          </a:xfrm>
          <a:prstGeom prst="roundedRectangle">
            <a:avLst>
              <a:gd name="adj" fmla="val 21818"/>
            </a:avLst>
          </a:prstGeom>
          <a:solidFill>
            <a:srgbClr val="9333EA"/>
          </a:solidFill>
          <a:ln w="6350">
            <a:solidFill>
              <a:srgbClr val="933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554480"/>
            <a:ext cx="2651760" cy="1828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P1 - 주요 기능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93008" y="192024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1920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목록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93008" y="242316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2423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 신청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93008" y="292608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2926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93008" y="342900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F3E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429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대시보드 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93008" y="393192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작성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93008" y="443484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4434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메시지/채팅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83280" y="5212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페이지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1234440"/>
            <a:ext cx="2651760" cy="5029200"/>
          </a:xfrm>
          <a:prstGeom prst="roundedRectangle">
            <a:avLst>
              <a:gd name="adj" fmla="val 413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1234440"/>
            <a:ext cx="2651760" cy="502920"/>
          </a:xfrm>
          <a:prstGeom prst="roundedRectangle">
            <a:avLst>
              <a:gd name="adj" fmla="val 21818"/>
            </a:avLst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1554480"/>
            <a:ext cx="265176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P2 - 부가 기능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27648" y="192024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1920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프로필/설정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27648" y="242316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2423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리뷰/알림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27648" y="292608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2926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전체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27648" y="342900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3429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정적 페이지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27648" y="3931920"/>
            <a:ext cx="2432304" cy="384048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보험/정산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17920" y="5212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페이지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누수체크 디자인 시스템 v3.0</dc:title>
  <dc:subject>PptxGenJS Presentation</dc:subject>
  <dc:creator>NusuCheck Design System</dc:creator>
  <cp:lastModifiedBy>NusuCheck Design System</cp:lastModifiedBy>
  <cp:revision>1</cp:revision>
  <dcterms:created xsi:type="dcterms:W3CDTF">2026-03-10T01:15:14Z</dcterms:created>
  <dcterms:modified xsi:type="dcterms:W3CDTF">2026-03-10T01:15:14Z</dcterms:modified>
</cp:coreProperties>
</file>